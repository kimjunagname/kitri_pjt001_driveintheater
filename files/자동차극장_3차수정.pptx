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drawings/drawing1.xml" ContentType="application/vnd.openxmlformats-officedocument.drawingml.chartshape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6" r:id="rId2"/>
    <p:sldId id="262" r:id="rId3"/>
    <p:sldId id="257" r:id="rId4"/>
    <p:sldId id="263" r:id="rId5"/>
    <p:sldId id="264" r:id="rId6"/>
    <p:sldId id="278" r:id="rId7"/>
    <p:sldId id="259" r:id="rId8"/>
    <p:sldId id="258" r:id="rId9"/>
    <p:sldId id="261" r:id="rId10"/>
    <p:sldId id="267" r:id="rId11"/>
    <p:sldId id="270" r:id="rId12"/>
    <p:sldId id="277" r:id="rId13"/>
    <p:sldId id="276" r:id="rId14"/>
    <p:sldId id="274" r:id="rId15"/>
    <p:sldId id="265" r:id="rId16"/>
    <p:sldId id="279" r:id="rId1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AEFF7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3985" autoAdjust="0"/>
  </p:normalViewPr>
  <p:slideViewPr>
    <p:cSldViewPr snapToGrid="0">
      <p:cViewPr varScale="1">
        <p:scale>
          <a:sx n="82" d="100"/>
          <a:sy n="82" d="100"/>
        </p:scale>
        <p:origin x="72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315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manyf\Desktop\1&#52264;%20&#54532;&#47196;&#51229;&#53944;(4&#51312;)\001%201&#52264;%20&#54532;&#47196;&#51229;&#53944;\001%20&#49884;&#51109;&#49457;%20&#51312;&#49324;%20&#51088;&#47308;\&#49884;&#51109;&#49457;&#51312;&#49324;.xlsx" TargetMode="External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chartUserShapes" Target="../drawings/drawing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6"/>
    </mc:Choice>
    <mc:Fallback>
      <c:style val="6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400" b="0" dirty="0">
                <a:solidFill>
                  <a:schemeClr val="bg1"/>
                </a:solidFill>
              </a:rPr>
              <a:t>자동차 극장 전용 예매 시스템 현황</a:t>
            </a:r>
          </a:p>
        </c:rich>
      </c:tx>
      <c:layout>
        <c:manualLayout>
          <c:xMode val="edge"/>
          <c:yMode val="edge"/>
          <c:x val="1.7378406571211327E-3"/>
          <c:y val="0"/>
        </c:manualLayout>
      </c:layout>
      <c:overlay val="1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1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Sheet1!$O$12</c:f>
              <c:strCache>
                <c:ptCount val="1"/>
                <c:pt idx="0">
                  <c:v>자동차 극장</c:v>
                </c:pt>
              </c:strCache>
            </c:strRef>
          </c:tx>
          <c:explosion val="14"/>
          <c:dPt>
            <c:idx val="0"/>
            <c:bubble3D val="0"/>
            <c:spPr>
              <a:solidFill>
                <a:schemeClr val="accent4">
                  <a:tint val="77000"/>
                </a:schemeClr>
              </a:solidFill>
              <a:ln w="6350" cap="flat" cmpd="sng" algn="ctr">
                <a:solidFill>
                  <a:schemeClr val="lt1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0-8BEC-4DB6-8703-086F677650A4}"/>
              </c:ext>
            </c:extLst>
          </c:dPt>
          <c:dPt>
            <c:idx val="1"/>
            <c:bubble3D val="0"/>
            <c:spPr>
              <a:solidFill>
                <a:schemeClr val="accent4">
                  <a:shade val="76000"/>
                </a:schemeClr>
              </a:solidFill>
              <a:ln w="6350" cap="flat" cmpd="sng" algn="ctr">
                <a:solidFill>
                  <a:schemeClr val="lt1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1-8BEC-4DB6-8703-086F677650A4}"/>
              </c:ext>
            </c:extLst>
          </c:dPt>
          <c:dLbls>
            <c:dLbl>
              <c:idx val="0"/>
              <c:layout/>
              <c:tx>
                <c:rich>
                  <a:bodyPr/>
                  <a:lstStyle/>
                  <a:p>
                    <a:r>
                      <a:rPr lang="ko-KR" altLang="en-US"/>
                      <a:t>현장예매</a:t>
                    </a:r>
                    <a:r>
                      <a:rPr lang="en-US" altLang="ko-KR" baseline="0"/>
                      <a:t>, </a:t>
                    </a:r>
                    <a:fld id="{941B1D67-6E73-41E7-A71C-1820A2B7B13E}" type="VALUE">
                      <a:rPr lang="en-US" altLang="ko-KR" baseline="0"/>
                      <a:pPr/>
                      <a:t>[값]</a:t>
                    </a:fld>
                    <a:endParaRPr lang="en-US" altLang="ko-KR" baseline="0"/>
                  </a:p>
                </c:rich>
              </c:tx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0-8BEC-4DB6-8703-086F677650A4}"/>
                </c:ext>
              </c:extLst>
            </c:dLbl>
            <c:dLbl>
              <c:idx val="1"/>
              <c:layout/>
              <c:tx>
                <c:rich>
                  <a:bodyPr/>
                  <a:lstStyle/>
                  <a:p>
                    <a:r>
                      <a:rPr lang="ko-KR" altLang="en-US"/>
                      <a:t>홈페이지 예매</a:t>
                    </a:r>
                    <a:r>
                      <a:rPr lang="en-US" altLang="ko-KR" baseline="0"/>
                      <a:t>, </a:t>
                    </a:r>
                    <a:fld id="{A16A702A-FA04-4D77-8A00-8952543EDE82}" type="VALUE">
                      <a:rPr lang="en-US" altLang="ko-KR" baseline="0"/>
                      <a:pPr/>
                      <a:t>[값]</a:t>
                    </a:fld>
                    <a:endParaRPr lang="en-US" altLang="ko-KR" baseline="0"/>
                  </a:p>
                </c:rich>
              </c:tx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1-8BEC-4DB6-8703-086F677650A4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showLegendKey val="0"/>
            <c:showVal val="1"/>
            <c:showCatName val="1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Sheet1!$P$11:$Q$11</c:f>
              <c:strCache>
                <c:ptCount val="2"/>
                <c:pt idx="0">
                  <c:v>없음</c:v>
                </c:pt>
                <c:pt idx="1">
                  <c:v>있음</c:v>
                </c:pt>
              </c:strCache>
            </c:strRef>
          </c:cat>
          <c:val>
            <c:numRef>
              <c:f>Sheet1!$P$12:$Q$12</c:f>
              <c:numCache>
                <c:formatCode>General</c:formatCode>
                <c:ptCount val="2"/>
                <c:pt idx="0">
                  <c:v>12</c:v>
                </c:pt>
                <c:pt idx="1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8BEC-4DB6-8703-086F677650A4}"/>
            </c:ext>
          </c:extLst>
        </c:ser>
        <c:dLbls>
          <c:showLegendKey val="0"/>
          <c:showVal val="1"/>
          <c:showCatName val="1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 w="6350" cap="flat" cmpd="sng" algn="ctr">
      <a:noFill/>
      <a:prstDash val="solid"/>
      <a:miter lim="800000"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  <c:userShapes r:id="rId4"/>
</c:chartSpace>
</file>

<file path=ppt/charts/colors1.xml><?xml version="1.0" encoding="utf-8"?>
<cs:colorStyle xmlns:cs="http://schemas.microsoft.com/office/drawing/2012/chartStyle" xmlns:a="http://schemas.openxmlformats.org/drawingml/2006/main" meth="withinLinearReversed" id="24">
  <a:schemeClr val="accent4"/>
</cs:colorStyle>
</file>

<file path=ppt/charts/style1.xml><?xml version="1.0" encoding="utf-8"?>
<cs:chartStyle xmlns:cs="http://schemas.microsoft.com/office/drawing/2012/chartStyle" xmlns:a="http://schemas.openxmlformats.org/drawingml/2006/main" id="109">
  <cs:axisTitle>
    <cs:lnRef idx="0"/>
    <cs:fillRef idx="0"/>
    <cs:effectRef idx="0"/>
    <cs:fontRef idx="minor">
      <a:schemeClr val="tx1"/>
    </cs:fontRef>
    <cs:defRPr sz="1000" b="1" kern="1200"/>
  </cs:axisTitle>
  <cs:category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categoryAxis>
  <cs:chartArea mods="allowNoFillOverride allowNoLineOverride">
    <cs:lnRef idx="1">
      <a:schemeClr val="tx1">
        <a:tint val="75000"/>
      </a:schemeClr>
    </cs:lnRef>
    <cs:fillRef idx="1">
      <a:schemeClr val="bg1"/>
    </cs:fillRef>
    <cs:effectRef idx="0"/>
    <cs:fontRef idx="minor">
      <a:schemeClr val="tx1"/>
    </cs:fontRef>
    <cs:spPr>
      <a:ln>
        <a:round/>
      </a:ln>
    </cs:spPr>
    <cs:defRPr sz="1000" kern="1200"/>
  </cs:chartArea>
  <cs:dataLabel>
    <cs:lnRef idx="0"/>
    <cs:fillRef idx="0"/>
    <cs:effectRef idx="0"/>
    <cs:fontRef idx="minor">
      <a:schemeClr val="tx1"/>
    </cs:fontRef>
    <cs:defRPr sz="1000" kern="1200"/>
  </cs:dataLabel>
  <cs:dataLabelCallout>
    <cs:lnRef idx="0"/>
    <cs:fillRef idx="0"/>
    <cs:effectRef idx="0"/>
    <cs:fontRef idx="minor">
      <a:schemeClr val="dk1"/>
    </cs:fontRef>
    <cs:spPr>
      <a:solidFill>
        <a:schemeClr val="lt1"/>
      </a:solidFill>
      <a:ln>
        <a:solidFill>
          <a:schemeClr val="dk1">
            <a:lumMod val="65000"/>
            <a:lumOff val="35000"/>
          </a:schemeClr>
        </a:solidFill>
      </a:ln>
    </cs:spPr>
    <cs:defRPr sz="1000" kern="1200"/>
  </cs:dataLabelCallout>
  <cs:dataPoint>
    <cs:lnRef idx="1">
      <a:schemeClr val="lt1"/>
    </cs:lnRef>
    <cs:fillRef idx="1">
      <cs:styleClr val="auto"/>
    </cs:fillRef>
    <cs:effectRef idx="1">
      <a:schemeClr val="dk1"/>
    </cs:effectRef>
    <cs:fontRef idx="minor">
      <a:schemeClr val="tx1"/>
    </cs:fontRef>
    <cs:spPr>
      <a:ln>
        <a:round/>
      </a:ln>
    </cs:spPr>
  </cs:dataPoint>
  <cs:dataPoint3D>
    <cs:lnRef idx="1">
      <a:schemeClr val="lt1"/>
    </cs:lnRef>
    <cs:fillRef idx="1">
      <cs:styleClr val="auto"/>
    </cs:fillRef>
    <cs:effectRef idx="1">
      <a:schemeClr val="dk1"/>
    </cs:effectRef>
    <cs:fontRef idx="minor">
      <a:schemeClr val="tx1"/>
    </cs:fontRef>
    <cs:spPr>
      <a:ln>
        <a:round/>
      </a:ln>
    </cs:spPr>
  </cs:dataPoint3D>
  <cs:dataPointLine>
    <cs:lnRef idx="1">
      <cs:styleClr val="auto"/>
    </cs:lnRef>
    <cs:lineWidthScale>5</cs:lineWidthScale>
    <cs:fillRef idx="0"/>
    <cs:effectRef idx="0"/>
    <cs:fontRef idx="minor">
      <a:schemeClr val="tx1"/>
    </cs:fontRef>
    <cs:spPr>
      <a:ln cap="rnd">
        <a:round/>
      </a:ln>
    </cs:spPr>
  </cs:dataPointLine>
  <cs:dataPointMarker>
    <cs:lnRef idx="1">
      <cs:styleClr val="auto"/>
    </cs:lnRef>
    <cs:fillRef idx="1">
      <cs:styleClr val="auto"/>
    </cs:fillRef>
    <cs:effectRef idx="1">
      <a:schemeClr val="dk1"/>
    </cs:effectRef>
    <cs:fontRef idx="minor">
      <a:schemeClr val="tx1"/>
    </cs:fontRef>
    <cs:spPr>
      <a:ln>
        <a:round/>
      </a:ln>
    </cs:spPr>
  </cs:dataPointMarker>
  <cs:dataPointMarkerLayout/>
  <cs:dataPointWireframe>
    <cs:lnRef idx="1">
      <cs:styleClr val="auto"/>
    </cs:lnRef>
    <cs:fillRef idx="0"/>
    <cs:effectRef idx="0"/>
    <cs:fontRef idx="minor">
      <a:schemeClr val="tx1"/>
    </cs:fontRef>
    <cs:spPr>
      <a:ln>
        <a:round/>
      </a:ln>
    </cs:spPr>
  </cs:dataPointWireframe>
  <cs:dataTable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dataTable>
  <cs:downBar>
    <cs:lnRef idx="1">
      <a:schemeClr val="tx1"/>
    </cs:lnRef>
    <cs:fillRef idx="1">
      <a:schemeClr val="dk1">
        <a:tint val="85000"/>
      </a:schemeClr>
    </cs:fillRef>
    <cs:effectRef idx="1">
      <a:schemeClr val="dk1"/>
    </cs:effectRef>
    <cs:fontRef idx="minor">
      <a:schemeClr val="tx1"/>
    </cs:fontRef>
    <cs:spPr>
      <a:ln>
        <a:round/>
      </a:ln>
    </cs:spPr>
  </cs:downBar>
  <cs:drop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dropLine>
  <cs:errorBar>
    <cs:lnRef idx="1">
      <a:schemeClr val="tx1"/>
    </cs:lnRef>
    <cs:fillRef idx="1">
      <a:schemeClr val="tx1"/>
    </cs:fillRef>
    <cs:effectRef idx="0"/>
    <cs:fontRef idx="minor">
      <a:schemeClr val="tx1"/>
    </cs:fontRef>
    <cs:spPr>
      <a:ln>
        <a:round/>
      </a:ln>
    </cs:spPr>
  </cs:errorBar>
  <cs:flo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floor>
  <cs:gridlineMaj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gridlineMajor>
  <cs:gridlineMinor>
    <cs:lnRef idx="1">
      <a:schemeClr val="tx1">
        <a:tint val="50000"/>
      </a:schemeClr>
    </cs:lnRef>
    <cs:fillRef idx="0"/>
    <cs:effectRef idx="0"/>
    <cs:fontRef idx="minor">
      <a:schemeClr val="tx1"/>
    </cs:fontRef>
    <cs:spPr>
      <a:ln>
        <a:round/>
      </a:ln>
    </cs:spPr>
  </cs:gridlineMinor>
  <cs:hiLo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hiLoLine>
  <cs:leader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leaderLine>
  <cs:legend>
    <cs:lnRef idx="0"/>
    <cs:fillRef idx="0"/>
    <cs:effectRef idx="0"/>
    <cs:fontRef idx="minor">
      <a:schemeClr val="tx1"/>
    </cs:fontRef>
    <cs:defRPr sz="1000" kern="1200"/>
  </cs:legend>
  <cs:plotArea mods="allowNoFillOverride allowNoLineOverride">
    <cs:lnRef idx="0"/>
    <cs:fillRef idx="1">
      <a:schemeClr val="bg1"/>
    </cs:fillRef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seriesAxis>
  <cs:series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seriesLine>
  <cs:title>
    <cs:lnRef idx="0"/>
    <cs:fillRef idx="0"/>
    <cs:effectRef idx="0"/>
    <cs:fontRef idx="minor">
      <a:schemeClr val="tx1"/>
    </cs:fontRef>
    <cs:defRPr sz="1800" b="1" kern="1200"/>
  </cs:title>
  <cs:trendline>
    <cs:lnRef idx="1">
      <a:schemeClr val="tx1"/>
    </cs:lnRef>
    <cs:fillRef idx="0"/>
    <cs:effectRef idx="0"/>
    <cs:fontRef idx="minor">
      <a:schemeClr val="tx1"/>
    </cs:fontRef>
    <cs:spPr>
      <a:ln cap="rnd">
        <a:round/>
      </a:ln>
    </cs:spPr>
  </cs:trendline>
  <cs:trendlineLabel>
    <cs:lnRef idx="0"/>
    <cs:fillRef idx="0"/>
    <cs:effectRef idx="0"/>
    <cs:fontRef idx="minor">
      <a:schemeClr val="tx1"/>
    </cs:fontRef>
    <cs:defRPr sz="1000" kern="1200"/>
  </cs:trendlineLabel>
  <cs:upBar>
    <cs:lnRef idx="1">
      <a:schemeClr val="tx1"/>
    </cs:lnRef>
    <cs:fillRef idx="1">
      <a:schemeClr val="dk1">
        <a:tint val="25000"/>
      </a:schemeClr>
    </cs:fillRef>
    <cs:effectRef idx="1">
      <a:schemeClr val="dk1"/>
    </cs:effectRef>
    <cs:fontRef idx="minor">
      <a:schemeClr val="tx1"/>
    </cs:fontRef>
    <cs:spPr>
      <a:ln>
        <a:round/>
      </a:ln>
    </cs:spPr>
  </cs:upBar>
  <cs:value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valueAxis>
  <cs:wall>
    <cs:lnRef idx="0"/>
    <cs:fillRef idx="0"/>
    <cs:effectRef idx="0"/>
    <cs:fontRef idx="minor">
      <a:schemeClr val="tx1"/>
    </cs:fontRef>
  </cs:wall>
</cs:chartStyle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</cdr:x>
      <cdr:y>0.89636</cdr:y>
    </cdr:from>
    <cdr:to>
      <cdr:x>0.66654</cdr:x>
      <cdr:y>0.99948</cdr:y>
    </cdr:to>
    <cdr:sp macro="" textlink="">
      <cdr:nvSpPr>
        <cdr:cNvPr id="2" name="TextBox 32">
          <a:extLst xmlns:a="http://schemas.openxmlformats.org/drawingml/2006/main">
            <a:ext uri="{FF2B5EF4-FFF2-40B4-BE49-F238E27FC236}">
              <a16:creationId xmlns:a16="http://schemas.microsoft.com/office/drawing/2014/main" id="{54834A0A-BF94-4172-BDDB-6CB6563ED5ED}"/>
            </a:ext>
          </a:extLst>
        </cdr:cNvPr>
        <cdr:cNvSpPr txBox="1"/>
      </cdr:nvSpPr>
      <cdr:spPr>
        <a:xfrm xmlns:a="http://schemas.openxmlformats.org/drawingml/2006/main">
          <a:off x="0" y="3250048"/>
          <a:ext cx="3097122" cy="373885"/>
        </a:xfrm>
        <a:prstGeom xmlns:a="http://schemas.openxmlformats.org/drawingml/2006/main" prst="rect">
          <a:avLst/>
        </a:prstGeom>
        <a:noFill xmlns:a="http://schemas.openxmlformats.org/drawingml/2006/main"/>
      </cdr:spPr>
      <cdr:txBody>
        <a:bodyPr xmlns:a="http://schemas.openxmlformats.org/drawingml/2006/main" wrap="square" rtlCol="0">
          <a:spAutoFit/>
        </a:bodyPr>
        <a:lstStyle xmlns:a="http://schemas.openxmlformats.org/drawingml/2006/main">
          <a:defPPr>
            <a:defRPr lang="ko-KR"/>
          </a:defPPr>
          <a:lvl1pPr marL="0" algn="l" defTabSz="914400" rtl="0" eaLnBrk="1" latinLnBrk="1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1pPr>
          <a:lvl2pPr marL="457200" algn="l" defTabSz="914400" rtl="0" eaLnBrk="1" latinLnBrk="1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2pPr>
          <a:lvl3pPr marL="914400" algn="l" defTabSz="914400" rtl="0" eaLnBrk="1" latinLnBrk="1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3pPr>
          <a:lvl4pPr marL="1371600" algn="l" defTabSz="914400" rtl="0" eaLnBrk="1" latinLnBrk="1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4pPr>
          <a:lvl5pPr marL="1828800" algn="l" defTabSz="914400" rtl="0" eaLnBrk="1" latinLnBrk="1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5pPr>
          <a:lvl6pPr marL="2286000" algn="l" defTabSz="914400" rtl="0" eaLnBrk="1" latinLnBrk="1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6pPr>
          <a:lvl7pPr marL="2743200" algn="l" defTabSz="914400" rtl="0" eaLnBrk="1" latinLnBrk="1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7pPr>
          <a:lvl8pPr marL="3200400" algn="l" defTabSz="914400" rtl="0" eaLnBrk="1" latinLnBrk="1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8pPr>
          <a:lvl9pPr marL="3657600" algn="l" defTabSz="914400" rtl="0" eaLnBrk="1" latinLnBrk="1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>
            <a:lnSpc>
              <a:spcPct val="150000"/>
            </a:lnSpc>
          </a:pPr>
          <a:r>
            <a:rPr lang="ko-KR" altLang="en-US" sz="1400" b="1" dirty="0">
              <a:ln>
                <a:solidFill>
                  <a:schemeClr val="tx1">
                    <a:alpha val="30000"/>
                  </a:schemeClr>
                </a:solidFill>
              </a:ln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rPr>
            <a:t>자료</a:t>
          </a:r>
          <a:r>
            <a:rPr lang="en-US" altLang="ko-KR" sz="1400" b="1" dirty="0">
              <a:ln>
                <a:solidFill>
                  <a:schemeClr val="tx1">
                    <a:alpha val="30000"/>
                  </a:schemeClr>
                </a:solidFill>
              </a:ln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rPr>
            <a:t>: Google (2018. 4. 27 </a:t>
          </a:r>
          <a:r>
            <a:rPr lang="ko-KR" altLang="en-US" sz="1400" b="1" dirty="0">
              <a:ln>
                <a:solidFill>
                  <a:schemeClr val="tx1">
                    <a:alpha val="30000"/>
                  </a:schemeClr>
                </a:solidFill>
              </a:ln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rPr>
            <a:t>기준</a:t>
          </a:r>
          <a:r>
            <a:rPr lang="en-US" altLang="ko-KR" sz="1400" b="1" dirty="0">
              <a:ln>
                <a:solidFill>
                  <a:schemeClr val="tx1">
                    <a:alpha val="30000"/>
                  </a:schemeClr>
                </a:solidFill>
              </a:ln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rPr>
            <a:t>)</a:t>
          </a:r>
          <a:endParaRPr lang="ko-KR" altLang="en-US" sz="1400" b="1" dirty="0">
            <a:ln>
              <a:solidFill>
                <a:schemeClr val="tx1">
                  <a:alpha val="30000"/>
                </a:schemeClr>
              </a:solidFill>
            </a:ln>
            <a:solidFill>
              <a:schemeClr val="bg1"/>
            </a:solidFill>
            <a:latin typeface="맑은 고딕" panose="020B0503020000020004" pitchFamily="50" charset="-127"/>
            <a:ea typeface="맑은 고딕" panose="020B0503020000020004" pitchFamily="50" charset="-127"/>
          </a:endParaRPr>
        </a:p>
      </cdr:txBody>
    </cdr:sp>
  </cdr:relSizeAnchor>
</c:userShape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585B8C2-7CD4-4AC3-A783-885B4B40C8E2}" type="datetimeFigureOut">
              <a:rPr lang="ko-KR" altLang="en-US" smtClean="0"/>
              <a:t>2018-05-17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C01BBA1-44DA-4326-ADBB-2CE42592C4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01933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C01BBA1-44DA-4326-ADBB-2CE42592C44D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262703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C01BBA1-44DA-4326-ADBB-2CE42592C44D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365143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D10811-630F-4028-9C41-317A716734D5}" type="datetimeFigureOut">
              <a:rPr lang="ko-KR" altLang="en-US" smtClean="0"/>
              <a:t>2018-05-17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5C3775-027D-4D4C-8800-613B05F6CB6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86827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D10811-630F-4028-9C41-317A716734D5}" type="datetimeFigureOut">
              <a:rPr lang="ko-KR" altLang="en-US" smtClean="0"/>
              <a:t>2018-05-17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5C3775-027D-4D4C-8800-613B05F6CB6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25272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D10811-630F-4028-9C41-317A716734D5}" type="datetimeFigureOut">
              <a:rPr lang="ko-KR" altLang="en-US" smtClean="0"/>
              <a:t>2018-05-17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5C3775-027D-4D4C-8800-613B05F6CB6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53132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D10811-630F-4028-9C41-317A716734D5}" type="datetimeFigureOut">
              <a:rPr lang="ko-KR" altLang="en-US" smtClean="0"/>
              <a:t>2018-05-17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5C3775-027D-4D4C-8800-613B05F6CB6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339847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D10811-630F-4028-9C41-317A716734D5}" type="datetimeFigureOut">
              <a:rPr lang="ko-KR" altLang="en-US" smtClean="0"/>
              <a:t>2018-05-17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5C3775-027D-4D4C-8800-613B05F6CB6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594238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D10811-630F-4028-9C41-317A716734D5}" type="datetimeFigureOut">
              <a:rPr lang="ko-KR" altLang="en-US" smtClean="0"/>
              <a:t>2018-05-17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5C3775-027D-4D4C-8800-613B05F6CB6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466661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D10811-630F-4028-9C41-317A716734D5}" type="datetimeFigureOut">
              <a:rPr lang="ko-KR" altLang="en-US" smtClean="0"/>
              <a:t>2018-05-17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5C3775-027D-4D4C-8800-613B05F6CB6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458620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D10811-630F-4028-9C41-317A716734D5}" type="datetimeFigureOut">
              <a:rPr lang="ko-KR" altLang="en-US" smtClean="0"/>
              <a:t>2018-05-17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5C3775-027D-4D4C-8800-613B05F6CB6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561009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D10811-630F-4028-9C41-317A716734D5}" type="datetimeFigureOut">
              <a:rPr lang="ko-KR" altLang="en-US" smtClean="0"/>
              <a:t>2018-05-17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5C3775-027D-4D4C-8800-613B05F6CB6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946267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D10811-630F-4028-9C41-317A716734D5}" type="datetimeFigureOut">
              <a:rPr lang="ko-KR" altLang="en-US" smtClean="0"/>
              <a:t>2018-05-17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5C3775-027D-4D4C-8800-613B05F6CB6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46842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D10811-630F-4028-9C41-317A716734D5}" type="datetimeFigureOut">
              <a:rPr lang="ko-KR" altLang="en-US" smtClean="0"/>
              <a:t>2018-05-17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5C3775-027D-4D4C-8800-613B05F6CB6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339570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D10811-630F-4028-9C41-317A716734D5}" type="datetimeFigureOut">
              <a:rPr lang="ko-KR" altLang="en-US" smtClean="0"/>
              <a:t>2018-05-17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5C3775-027D-4D4C-8800-613B05F6CB6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397092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Relationship Id="rId6" Type="http://schemas.microsoft.com/office/2007/relationships/hdphoto" Target="../media/hdphoto2.wdp"/><Relationship Id="rId5" Type="http://schemas.openxmlformats.org/officeDocument/2006/relationships/image" Target="../media/image15.png"/><Relationship Id="rId4" Type="http://schemas.microsoft.com/office/2007/relationships/hdphoto" Target="../media/hdphoto1.wdp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81354" y="909124"/>
            <a:ext cx="5598941" cy="1277450"/>
          </a:xfrm>
        </p:spPr>
        <p:txBody>
          <a:bodyPr>
            <a:normAutofit fontScale="90000"/>
          </a:bodyPr>
          <a:lstStyle/>
          <a:p>
            <a:pPr algn="r"/>
            <a:r>
              <a:rPr lang="en-US" altLang="ko-KR" sz="5400" b="1" dirty="0"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  <a:solidFill>
                  <a:schemeClr val="bg1">
                    <a:lumMod val="95000"/>
                  </a:schemeClr>
                </a:solidFill>
                <a:ea typeface="나눔고딕" pitchFamily="50" charset="-127"/>
              </a:rPr>
              <a:t> </a:t>
            </a:r>
            <a:r>
              <a:rPr lang="ko-KR" altLang="en-US" sz="5400" b="1" dirty="0"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</a:rPr>
              <a:t>자동차극장</a:t>
            </a:r>
            <a:r>
              <a:rPr lang="en-US" altLang="ko-KR" sz="5400" b="1" dirty="0"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</a:rPr>
              <a:t/>
            </a:r>
            <a:br>
              <a:rPr lang="en-US" altLang="ko-KR" sz="5400" b="1" dirty="0"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</a:rPr>
            </a:br>
            <a:r>
              <a:rPr lang="ko-KR" altLang="en-US" sz="5400" b="1" dirty="0"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</a:rPr>
              <a:t> 예매시스템</a:t>
            </a:r>
            <a:r>
              <a:rPr lang="en-US" altLang="ko-KR" sz="5400" b="1" dirty="0"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  <a:solidFill>
                  <a:schemeClr val="bg1">
                    <a:lumMod val="95000"/>
                  </a:schemeClr>
                </a:solidFill>
                <a:latin typeface="+mj-ea"/>
              </a:rPr>
              <a:t/>
            </a:r>
            <a:br>
              <a:rPr lang="en-US" altLang="ko-KR" sz="5400" b="1" dirty="0"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  <a:solidFill>
                  <a:schemeClr val="bg1">
                    <a:lumMod val="95000"/>
                  </a:schemeClr>
                </a:solidFill>
                <a:latin typeface="+mj-ea"/>
              </a:rPr>
            </a:br>
            <a:endParaRPr lang="ko-KR" altLang="en-US" dirty="0">
              <a:latin typeface="+mj-ea"/>
            </a:endParaRPr>
          </a:p>
        </p:txBody>
      </p:sp>
      <p:sp>
        <p:nvSpPr>
          <p:cNvPr id="3" name="부제목 2"/>
          <p:cNvSpPr>
            <a:spLocks noGrp="1"/>
          </p:cNvSpPr>
          <p:nvPr>
            <p:ph idx="1"/>
          </p:nvPr>
        </p:nvSpPr>
        <p:spPr>
          <a:xfrm>
            <a:off x="281354" y="4065564"/>
            <a:ext cx="5598941" cy="2447778"/>
          </a:xfrm>
        </p:spPr>
        <p:txBody>
          <a:bodyPr>
            <a:normAutofit/>
          </a:bodyPr>
          <a:lstStyle/>
          <a:p>
            <a:pPr marL="0" indent="0" algn="r">
              <a:buNone/>
            </a:pPr>
            <a:endParaRPr lang="en-US" altLang="ko-KR" sz="2000" b="1" dirty="0"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  <a:solidFill>
                <a:schemeClr val="bg1"/>
              </a:solidFill>
              <a:ea typeface="나눔고딕" pitchFamily="50" charset="-127"/>
            </a:endParaRPr>
          </a:p>
          <a:p>
            <a:pPr marL="0" indent="0" algn="r">
              <a:buNone/>
            </a:pPr>
            <a:r>
              <a:rPr lang="en-US" altLang="ko-KR" sz="2000" b="1" dirty="0"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KITRI </a:t>
            </a:r>
          </a:p>
          <a:p>
            <a:pPr marL="0" indent="0" algn="r">
              <a:buNone/>
            </a:pPr>
            <a:r>
              <a:rPr lang="en-US" altLang="ko-KR" sz="2000" b="1" dirty="0"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DIGITAL CONVERGENCE LECTURE #26 4P</a:t>
            </a:r>
          </a:p>
          <a:p>
            <a:pPr marL="0" indent="0" algn="r">
              <a:buNone/>
            </a:pPr>
            <a:r>
              <a:rPr lang="en-US" altLang="ko-KR" sz="2000" b="1" dirty="0"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  <a:solidFill>
                  <a:srgbClr val="FFFF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- MEMBERS </a:t>
            </a:r>
          </a:p>
          <a:p>
            <a:pPr marL="0" indent="0" algn="r">
              <a:buNone/>
            </a:pPr>
            <a:r>
              <a:rPr lang="ko-KR" altLang="en-US" sz="2000" dirty="0"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  <a:solidFill>
                  <a:schemeClr val="bg1">
                    <a:lumMod val="8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김정남</a:t>
            </a:r>
            <a:r>
              <a:rPr lang="en-US" altLang="ko-KR" sz="2000" dirty="0"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  <a:solidFill>
                  <a:srgbClr val="FFFF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2000" dirty="0"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  <a:solidFill>
                  <a:srgbClr val="FFFF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조장</a:t>
            </a:r>
            <a:r>
              <a:rPr lang="en-US" altLang="ko-KR" sz="2000" dirty="0"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  <a:solidFill>
                  <a:srgbClr val="FFFF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lang="en-US" altLang="ko-KR" sz="2000" dirty="0"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</a:t>
            </a:r>
            <a:r>
              <a:rPr lang="en-US" altLang="ko-KR" sz="2000" dirty="0"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  <a:solidFill>
                  <a:srgbClr val="FFFF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2000" dirty="0"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  <a:solidFill>
                  <a:schemeClr val="bg1">
                    <a:lumMod val="8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송민섭</a:t>
            </a:r>
            <a:endParaRPr lang="en-US" altLang="ko-KR" sz="2000" dirty="0"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  <a:solidFill>
                <a:schemeClr val="bg1">
                  <a:lumMod val="8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indent="0" algn="r">
              <a:buNone/>
            </a:pPr>
            <a:r>
              <a:rPr lang="ko-KR" altLang="en-US" sz="2000" dirty="0"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  <a:solidFill>
                  <a:schemeClr val="bg1">
                    <a:lumMod val="8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양민규 </a:t>
            </a:r>
            <a:r>
              <a:rPr lang="en-US" altLang="ko-KR" sz="2000" dirty="0"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  <a:solidFill>
                  <a:schemeClr val="bg1">
                    <a:lumMod val="8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</a:t>
            </a:r>
            <a:r>
              <a:rPr lang="ko-KR" altLang="en-US" sz="2000" dirty="0"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  <a:solidFill>
                  <a:schemeClr val="bg1">
                    <a:lumMod val="8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최나영</a:t>
            </a:r>
            <a:r>
              <a:rPr lang="en-US" altLang="ko-KR" sz="2000" dirty="0"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  <a:solidFill>
                  <a:schemeClr val="bg1">
                    <a:lumMod val="8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2000" dirty="0"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  <a:solidFill>
                  <a:schemeClr val="bg1">
                    <a:lumMod val="8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이상규</a:t>
            </a:r>
            <a:endParaRPr lang="en-US" altLang="ko-KR" sz="2000" dirty="0"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  <a:solidFill>
                <a:schemeClr val="bg1">
                  <a:lumMod val="8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indent="0" algn="r">
              <a:buNone/>
            </a:pPr>
            <a:endParaRPr lang="ko-KR" altLang="en-US" dirty="0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180"/>
          <a:stretch/>
        </p:blipFill>
        <p:spPr>
          <a:xfrm>
            <a:off x="6076950" y="0"/>
            <a:ext cx="611505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0479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내용 개체 틀 10"/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  <a:solidFill>
            <a:schemeClr val="tx1">
              <a:alpha val="66000"/>
            </a:schemeClr>
          </a:solidFill>
        </p:spPr>
        <p:txBody>
          <a:bodyPr>
            <a:normAutofit/>
          </a:bodyPr>
          <a:lstStyle/>
          <a:p>
            <a:pPr marL="0" indent="0" algn="r">
              <a:buNone/>
            </a:pPr>
            <a:endParaRPr lang="en-US" altLang="ko-KR" sz="2000" b="1" dirty="0">
              <a:ln>
                <a:solidFill>
                  <a:schemeClr val="tx1">
                    <a:alpha val="30000"/>
                  </a:schemeClr>
                </a:solidFill>
              </a:ln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indent="0" algn="r">
              <a:buNone/>
            </a:pPr>
            <a:r>
              <a:rPr lang="en-US" altLang="ko-KR" sz="3000" b="1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BACKGROUND</a:t>
            </a:r>
          </a:p>
          <a:p>
            <a:pPr marL="0" indent="0">
              <a:buNone/>
            </a:pPr>
            <a:r>
              <a:rPr lang="ko-KR" altLang="en-US" sz="2000" b="1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 선정 배경과 목표</a:t>
            </a:r>
            <a:endParaRPr lang="en-US" altLang="ko-KR" sz="2000" b="1" dirty="0">
              <a:ln>
                <a:solidFill>
                  <a:schemeClr val="tx1">
                    <a:alpha val="30000"/>
                  </a:schemeClr>
                </a:solidFill>
              </a:ln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457200" indent="-457200">
              <a:buAutoNum type="arabicPeriod"/>
            </a:pPr>
            <a:endParaRPr lang="en-US" altLang="ko-KR" sz="1000" b="1" dirty="0">
              <a:ln>
                <a:solidFill>
                  <a:schemeClr val="tx1">
                    <a:alpha val="30000"/>
                  </a:schemeClr>
                </a:solidFill>
              </a:ln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다음_Regular" panose="02000603060000000000" pitchFamily="2" charset="-127"/>
            </a:endParaRPr>
          </a:p>
          <a:p>
            <a:r>
              <a:rPr lang="ko-KR" altLang="en-US" sz="2000" b="1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 현재 자동차 극장 전용 예매 시스템을 구축한 극장 없음</a:t>
            </a:r>
            <a:endParaRPr lang="en-US" altLang="ko-KR" sz="2000" b="1" dirty="0">
              <a:ln>
                <a:solidFill>
                  <a:schemeClr val="tx1">
                    <a:alpha val="30000"/>
                  </a:schemeClr>
                </a:solidFill>
              </a:ln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ko-KR" altLang="en-US" sz="2000" b="1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사용자</a:t>
            </a:r>
            <a:r>
              <a:rPr lang="en-US" altLang="ko-KR" sz="2000" b="1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2000" b="1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관리자</a:t>
            </a:r>
            <a:r>
              <a:rPr lang="en-US" altLang="ko-KR" sz="2000" b="1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2000" b="1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중심으로 하는 전용예매 시스템 구축</a:t>
            </a:r>
            <a:endParaRPr lang="en-US" altLang="ko-KR" sz="2000" b="1" dirty="0">
              <a:ln>
                <a:solidFill>
                  <a:schemeClr val="tx1">
                    <a:alpha val="30000"/>
                  </a:schemeClr>
                </a:solidFill>
              </a:ln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en-US" altLang="ko-KR" sz="1000" b="1" dirty="0">
              <a:ln>
                <a:solidFill>
                  <a:schemeClr val="tx1">
                    <a:alpha val="30000"/>
                  </a:schemeClr>
                </a:solidFill>
              </a:ln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ko-KR" altLang="en-US" sz="2000" b="1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 효율적이고 직관적인 전용예매 시스템 구축 및 대중의 홍보화 극대</a:t>
            </a:r>
            <a:endParaRPr lang="en-US" altLang="ko-KR" sz="2000" b="1" dirty="0">
              <a:ln>
                <a:solidFill>
                  <a:schemeClr val="tx1">
                    <a:alpha val="30000"/>
                  </a:schemeClr>
                </a:solidFill>
              </a:ln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indent="0">
              <a:buNone/>
            </a:pPr>
            <a:endParaRPr lang="en-US" altLang="ko-KR" sz="2000" b="1" dirty="0">
              <a:ln>
                <a:solidFill>
                  <a:schemeClr val="tx1">
                    <a:alpha val="30000"/>
                  </a:schemeClr>
                </a:solidFill>
              </a:ln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나눔고딕" pitchFamily="50" charset="-127"/>
              <a:ea typeface="나눔고딕" pitchFamily="50" charset="-127"/>
            </a:endParaRPr>
          </a:p>
          <a:p>
            <a:pPr marL="0" indent="0">
              <a:buNone/>
            </a:pPr>
            <a:endParaRPr lang="en-US" altLang="ko-KR" sz="2000" b="1" dirty="0">
              <a:ln>
                <a:solidFill>
                  <a:schemeClr val="tx1">
                    <a:alpha val="30000"/>
                  </a:schemeClr>
                </a:solidFill>
              </a:ln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나눔고딕" pitchFamily="50" charset="-127"/>
              <a:ea typeface="나눔고딕" pitchFamily="50" charset="-127"/>
            </a:endParaRPr>
          </a:p>
          <a:p>
            <a:pPr marL="0" indent="0">
              <a:buNone/>
            </a:pPr>
            <a:endParaRPr lang="en-US" altLang="ko-KR" sz="2000" b="1" dirty="0">
              <a:ln>
                <a:solidFill>
                  <a:schemeClr val="tx1">
                    <a:alpha val="30000"/>
                  </a:schemeClr>
                </a:solidFill>
              </a:ln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나눔고딕" pitchFamily="50" charset="-127"/>
              <a:ea typeface="나눔고딕" pitchFamily="50" charset="-127"/>
            </a:endParaRPr>
          </a:p>
          <a:p>
            <a:pPr marL="0" indent="0">
              <a:buNone/>
            </a:pPr>
            <a:endParaRPr lang="en-US" altLang="ko-KR" sz="2000" b="1" dirty="0">
              <a:ln>
                <a:solidFill>
                  <a:schemeClr val="tx1">
                    <a:alpha val="30000"/>
                  </a:schemeClr>
                </a:solidFill>
              </a:ln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나눔고딕" pitchFamily="50" charset="-127"/>
              <a:ea typeface="나눔고딕" pitchFamily="50" charset="-127"/>
            </a:endParaRPr>
          </a:p>
          <a:p>
            <a:pPr marL="0" indent="0">
              <a:buNone/>
            </a:pPr>
            <a:endParaRPr lang="en-US" altLang="ko-KR" dirty="0">
              <a:solidFill>
                <a:schemeClr val="bg1"/>
              </a:solidFill>
            </a:endParaRPr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80BA95E6-6A51-4A06-B020-5FBE59E829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545771" y="3108811"/>
            <a:ext cx="3491363" cy="345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aphicFrame>
        <p:nvGraphicFramePr>
          <p:cNvPr id="9" name="차트 8">
            <a:extLst>
              <a:ext uri="{FF2B5EF4-FFF2-40B4-BE49-F238E27FC236}">
                <a16:creationId xmlns:a16="http://schemas.microsoft.com/office/drawing/2014/main" id="{4E121592-CEEC-4FDE-8C09-971E5E0733D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29183680"/>
              </p:ext>
            </p:extLst>
          </p:nvPr>
        </p:nvGraphicFramePr>
        <p:xfrm>
          <a:off x="6582905" y="3108811"/>
          <a:ext cx="4646571" cy="362581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13174199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9" grpId="0">
        <p:bldAsOne/>
      </p:bldGraphic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내용 개체 틀 10"/>
          <p:cNvSpPr>
            <a:spLocks noGrp="1"/>
          </p:cNvSpPr>
          <p:nvPr>
            <p:ph idx="1"/>
          </p:nvPr>
        </p:nvSpPr>
        <p:spPr>
          <a:xfrm>
            <a:off x="0" y="0"/>
            <a:ext cx="6096000" cy="6858000"/>
          </a:xfrm>
          <a:solidFill>
            <a:schemeClr val="tx1">
              <a:alpha val="66000"/>
            </a:schemeClr>
          </a:solidFill>
        </p:spPr>
        <p:txBody>
          <a:bodyPr>
            <a:normAutofit/>
          </a:bodyPr>
          <a:lstStyle/>
          <a:p>
            <a:pPr marL="0" indent="0">
              <a:buNone/>
            </a:pPr>
            <a:endParaRPr lang="en-US" altLang="ko-KR" sz="2000" b="1" dirty="0">
              <a:ln>
                <a:solidFill>
                  <a:schemeClr val="tx1">
                    <a:alpha val="30000"/>
                  </a:schemeClr>
                </a:solidFill>
              </a:ln>
              <a:solidFill>
                <a:schemeClr val="bg1"/>
              </a:solidFill>
              <a:latin typeface="나눔고딕" pitchFamily="50" charset="-127"/>
              <a:ea typeface="나눔고딕" pitchFamily="50" charset="-127"/>
            </a:endParaRPr>
          </a:p>
          <a:p>
            <a:pPr marL="0" indent="0" algn="r">
              <a:buNone/>
            </a:pPr>
            <a:r>
              <a:rPr lang="en-US" altLang="ko-KR" sz="2500" b="1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FFFF00"/>
                </a:solidFill>
                <a:effectLst>
                  <a:outerShdw blurRad="50800" dist="38100" dir="2700000" algn="tl" rotWithShape="0">
                    <a:schemeClr val="tx1">
                      <a:alpha val="40000"/>
                    </a:schemeClr>
                  </a:outerShdw>
                </a:effectLst>
                <a:latin typeface="+mn-ea"/>
              </a:rPr>
              <a:t>ENVIRONMENT FOR DEVELOPMENT</a:t>
            </a:r>
          </a:p>
          <a:p>
            <a:pPr marL="0" indent="0">
              <a:buNone/>
            </a:pPr>
            <a:endParaRPr lang="en-US" altLang="ko-KR" sz="2000" b="1" dirty="0">
              <a:ln>
                <a:solidFill>
                  <a:schemeClr val="tx1">
                    <a:alpha val="30000"/>
                  </a:schemeClr>
                </a:solidFill>
              </a:ln>
              <a:solidFill>
                <a:schemeClr val="bg1"/>
              </a:solidFill>
              <a:latin typeface="+mn-ea"/>
            </a:endParaRPr>
          </a:p>
          <a:p>
            <a:r>
              <a:rPr lang="en-US" altLang="ko-KR" sz="2000" b="1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JDK</a:t>
            </a:r>
            <a:r>
              <a:rPr lang="en-US" altLang="ko-KR" sz="2000" b="1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FFFF00"/>
                </a:solidFill>
                <a:latin typeface="+mn-ea"/>
              </a:rPr>
              <a:t> </a:t>
            </a:r>
            <a:r>
              <a:rPr lang="en-US" altLang="ko-KR" sz="2000" b="1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: Java SE 1.8.0 161</a:t>
            </a:r>
            <a:endParaRPr lang="ko-KR" altLang="en-US" sz="2000" b="1" dirty="0">
              <a:ln>
                <a:solidFill>
                  <a:schemeClr val="tx1">
                    <a:alpha val="30000"/>
                  </a:schemeClr>
                </a:solidFill>
              </a:ln>
              <a:solidFill>
                <a:schemeClr val="bg1"/>
              </a:solidFill>
              <a:latin typeface="+mn-ea"/>
            </a:endParaRPr>
          </a:p>
          <a:p>
            <a:pPr marL="0" indent="0">
              <a:buNone/>
            </a:pPr>
            <a:endParaRPr lang="en-US" altLang="ko-KR" sz="2000" b="1" dirty="0">
              <a:ln>
                <a:solidFill>
                  <a:schemeClr val="tx1">
                    <a:alpha val="30000"/>
                  </a:schemeClr>
                </a:solidFill>
              </a:ln>
              <a:solidFill>
                <a:schemeClr val="bg1"/>
              </a:solidFill>
              <a:latin typeface="+mn-ea"/>
            </a:endParaRPr>
          </a:p>
          <a:p>
            <a:r>
              <a:rPr lang="en-US" altLang="ko-KR" sz="2000" b="1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IDE</a:t>
            </a:r>
            <a:r>
              <a:rPr lang="en-US" altLang="ko-KR" sz="2000" b="1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FFFF00"/>
                </a:solidFill>
                <a:latin typeface="+mn-ea"/>
              </a:rPr>
              <a:t> </a:t>
            </a:r>
            <a:r>
              <a:rPr lang="en-US" altLang="ko-KR" sz="2000" b="1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:  Eclipse OXYGEN for Java SE   </a:t>
            </a:r>
          </a:p>
          <a:p>
            <a:pPr marL="0" indent="0">
              <a:buNone/>
            </a:pPr>
            <a:endParaRPr lang="en-US" altLang="ko-KR" sz="2000" b="1" dirty="0">
              <a:ln>
                <a:solidFill>
                  <a:schemeClr val="tx1">
                    <a:alpha val="30000"/>
                  </a:schemeClr>
                </a:solidFill>
              </a:ln>
              <a:solidFill>
                <a:schemeClr val="bg1"/>
              </a:solidFill>
              <a:latin typeface="+mn-ea"/>
            </a:endParaRPr>
          </a:p>
          <a:p>
            <a:r>
              <a:rPr lang="en-US" altLang="ko-KR" sz="2000" b="1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OS</a:t>
            </a:r>
            <a:r>
              <a:rPr lang="en-US" altLang="ko-KR" sz="2000" b="1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FFFF00"/>
                </a:solidFill>
                <a:latin typeface="+mn-ea"/>
              </a:rPr>
              <a:t> </a:t>
            </a:r>
            <a:r>
              <a:rPr lang="en-US" altLang="ko-KR" sz="2000" b="1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:  Windows 7, 10</a:t>
            </a:r>
            <a:endParaRPr lang="ko-KR" altLang="en-US" sz="2000" b="1" dirty="0">
              <a:ln>
                <a:solidFill>
                  <a:schemeClr val="tx1">
                    <a:alpha val="30000"/>
                  </a:schemeClr>
                </a:solidFill>
              </a:ln>
              <a:solidFill>
                <a:schemeClr val="bg1"/>
              </a:solidFill>
              <a:latin typeface="+mn-ea"/>
            </a:endParaRPr>
          </a:p>
          <a:p>
            <a:pPr marL="0" indent="0">
              <a:buNone/>
            </a:pPr>
            <a:endParaRPr lang="en-US" altLang="ko-KR" sz="2000" b="1" dirty="0">
              <a:ln>
                <a:solidFill>
                  <a:schemeClr val="tx1">
                    <a:alpha val="30000"/>
                  </a:schemeClr>
                </a:solidFill>
              </a:ln>
              <a:solidFill>
                <a:schemeClr val="bg1"/>
              </a:solidFill>
              <a:latin typeface="+mn-ea"/>
            </a:endParaRPr>
          </a:p>
          <a:p>
            <a:r>
              <a:rPr lang="en-US" altLang="ko-KR" sz="2000" b="1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DB : Oracle Database 11g  Express Edition</a:t>
            </a:r>
            <a:endParaRPr lang="ko-KR" altLang="en-US" sz="2000" b="1" dirty="0">
              <a:ln>
                <a:solidFill>
                  <a:schemeClr val="tx1">
                    <a:alpha val="30000"/>
                  </a:schemeClr>
                </a:solidFill>
              </a:ln>
              <a:solidFill>
                <a:schemeClr val="bg1"/>
              </a:solidFill>
              <a:latin typeface="+mn-ea"/>
            </a:endParaRPr>
          </a:p>
          <a:p>
            <a:endParaRPr lang="en-US" altLang="ko-KR" sz="2000" dirty="0">
              <a:solidFill>
                <a:schemeClr val="bg1"/>
              </a:solidFill>
              <a:latin typeface="+mn-ea"/>
            </a:endParaRPr>
          </a:p>
          <a:p>
            <a:r>
              <a:rPr lang="en-US" altLang="ko-KR" sz="2000" b="1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VC : SVN</a:t>
            </a:r>
            <a:endParaRPr lang="ko-KR" altLang="en-US" sz="2000" b="1" dirty="0">
              <a:ln>
                <a:solidFill>
                  <a:schemeClr val="tx1">
                    <a:alpha val="30000"/>
                  </a:schemeClr>
                </a:solidFill>
              </a:ln>
              <a:solidFill>
                <a:schemeClr val="bg1"/>
              </a:solidFill>
              <a:latin typeface="+mn-ea"/>
            </a:endParaRPr>
          </a:p>
          <a:p>
            <a:pPr marL="0" indent="0">
              <a:buNone/>
            </a:pPr>
            <a:endParaRPr lang="en-US" altLang="ko-KR" dirty="0">
              <a:solidFill>
                <a:schemeClr val="bg1"/>
              </a:solidFill>
            </a:endParaRPr>
          </a:p>
        </p:txBody>
      </p:sp>
      <p:pic>
        <p:nvPicPr>
          <p:cNvPr id="12" name="그림 1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75914" y="1466691"/>
            <a:ext cx="1007005" cy="886311"/>
          </a:xfrm>
          <a:prstGeom prst="rect">
            <a:avLst/>
          </a:prstGeom>
        </p:spPr>
      </p:pic>
      <p:pic>
        <p:nvPicPr>
          <p:cNvPr id="13" name="그림 1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65873" y="599461"/>
            <a:ext cx="1551050" cy="441080"/>
          </a:xfrm>
          <a:prstGeom prst="rect">
            <a:avLst/>
          </a:prstGeom>
        </p:spPr>
      </p:pic>
      <p:pic>
        <p:nvPicPr>
          <p:cNvPr id="15" name="그림 1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72261" y="497157"/>
            <a:ext cx="871197" cy="701021"/>
          </a:xfrm>
          <a:prstGeom prst="rect">
            <a:avLst/>
          </a:prstGeom>
        </p:spPr>
      </p:pic>
      <p:pic>
        <p:nvPicPr>
          <p:cNvPr id="16" name="그림 15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9338" y="497157"/>
            <a:ext cx="1693501" cy="573475"/>
          </a:xfrm>
          <a:prstGeom prst="rect">
            <a:avLst/>
          </a:prstGeom>
        </p:spPr>
      </p:pic>
      <p:pic>
        <p:nvPicPr>
          <p:cNvPr id="17" name="그림 16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4681" y="1466691"/>
            <a:ext cx="1477186" cy="8863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82312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10">
            <a:extLst>
              <a:ext uri="{FF2B5EF4-FFF2-40B4-BE49-F238E27FC236}">
                <a16:creationId xmlns:a16="http://schemas.microsoft.com/office/drawing/2014/main" id="{DC3D2D27-FE8F-4D5E-B69F-0C99DFB377AD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66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Font typeface="Arial" panose="020B0604020202020204" pitchFamily="34" charset="0"/>
              <a:buNone/>
            </a:pPr>
            <a:endParaRPr lang="en-US" altLang="ko-KR" sz="2000" b="1" dirty="0">
              <a:ln>
                <a:solidFill>
                  <a:schemeClr val="tx1">
                    <a:alpha val="30000"/>
                  </a:schemeClr>
                </a:solidFill>
              </a:ln>
              <a:solidFill>
                <a:schemeClr val="bg1"/>
              </a:solidFill>
              <a:latin typeface="나눔고딕" pitchFamily="50" charset="-127"/>
              <a:ea typeface="나눔고딕" pitchFamily="50" charset="-127"/>
            </a:endParaRPr>
          </a:p>
          <a:p>
            <a:pPr marL="0" indent="0" algn="r">
              <a:buFont typeface="Arial" panose="020B0604020202020204" pitchFamily="34" charset="0"/>
              <a:buNone/>
            </a:pPr>
            <a:r>
              <a:rPr lang="en-US" altLang="ko-KR" sz="3000" b="1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WORK PLANNER</a:t>
            </a:r>
            <a:endParaRPr lang="en-US" altLang="ko-KR" sz="2000" b="1" dirty="0">
              <a:ln>
                <a:solidFill>
                  <a:schemeClr val="tx1">
                    <a:alpha val="30000"/>
                  </a:schemeClr>
                </a:solidFill>
              </a:ln>
              <a:solidFill>
                <a:schemeClr val="bg1"/>
              </a:solidFill>
              <a:latin typeface="나눔고딕" pitchFamily="50" charset="-127"/>
              <a:ea typeface="나눔고딕" pitchFamily="50" charset="-127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altLang="ko-KR" dirty="0">
              <a:solidFill>
                <a:schemeClr val="bg1"/>
              </a:solidFill>
            </a:endParaRP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C9CDFDC9-E18B-42A6-9E73-1A3AD298E2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289" y="1496157"/>
            <a:ext cx="11955173" cy="34034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35978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10">
            <a:extLst>
              <a:ext uri="{FF2B5EF4-FFF2-40B4-BE49-F238E27FC236}">
                <a16:creationId xmlns:a16="http://schemas.microsoft.com/office/drawing/2014/main" id="{DC3D2D27-FE8F-4D5E-B69F-0C99DFB377AD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66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altLang="ko-KR" sz="2000" b="1" i="0" u="none" strike="noStrike" kern="1200" cap="none" spc="0" normalizeH="0" baseline="0" noProof="0" dirty="0">
              <a:ln>
                <a:solidFill>
                  <a:prstClr val="black">
                    <a:alpha val="30000"/>
                  </a:prstClr>
                </a:solidFill>
              </a:ln>
              <a:solidFill>
                <a:prstClr val="white"/>
              </a:solidFill>
              <a:effectLst/>
              <a:uLnTx/>
              <a:uFillTx/>
              <a:latin typeface="나눔고딕" pitchFamily="50" charset="-127"/>
              <a:ea typeface="나눔고딕" pitchFamily="50" charset="-127"/>
              <a:cs typeface="+mn-cs"/>
            </a:endParaRPr>
          </a:p>
          <a:p>
            <a:pPr marL="0" marR="0" lvl="0" indent="0" algn="r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ko-KR" sz="3000" b="1" i="0" u="none" strike="noStrike" kern="1200" cap="none" spc="0" normalizeH="0" baseline="0" noProof="0" dirty="0">
                <a:ln>
                  <a:solidFill>
                    <a:prstClr val="black">
                      <a:alpha val="30000"/>
                    </a:prstClr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j-ea"/>
                <a:ea typeface="+mj-ea"/>
                <a:cs typeface="+mn-cs"/>
              </a:rPr>
              <a:t>MINDMAP</a:t>
            </a:r>
          </a:p>
          <a:p>
            <a:pPr marL="0" marR="0" lvl="0" indent="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altLang="ko-KR" sz="2000" b="1" i="0" u="none" strike="noStrike" kern="1200" cap="none" spc="0" normalizeH="0" baseline="0" noProof="0" dirty="0">
              <a:ln>
                <a:solidFill>
                  <a:prstClr val="black">
                    <a:alpha val="30000"/>
                  </a:prstClr>
                </a:solidFill>
              </a:ln>
              <a:solidFill>
                <a:prstClr val="white"/>
              </a:solidFill>
              <a:effectLst/>
              <a:uLnTx/>
              <a:uFillTx/>
              <a:latin typeface="나눔고딕" pitchFamily="50" charset="-127"/>
              <a:ea typeface="나눔고딕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altLang="ko-KR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977575D2-608D-49E8-B6E6-CE2A2A778546}"/>
              </a:ext>
            </a:extLst>
          </p:cNvPr>
          <p:cNvCxnSpPr>
            <a:cxnSpLocks/>
          </p:cNvCxnSpPr>
          <p:nvPr/>
        </p:nvCxnSpPr>
        <p:spPr>
          <a:xfrm>
            <a:off x="17641207" y="1841500"/>
            <a:ext cx="47625" cy="4717175"/>
          </a:xfrm>
          <a:prstGeom prst="line">
            <a:avLst/>
          </a:prstGeom>
          <a:ln w="5715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pic>
        <p:nvPicPr>
          <p:cNvPr id="5" name="그림 4">
            <a:extLst>
              <a:ext uri="{FF2B5EF4-FFF2-40B4-BE49-F238E27FC236}">
                <a16:creationId xmlns:a16="http://schemas.microsoft.com/office/drawing/2014/main" id="{462B0C6F-CD73-4E60-890A-B0DB2768AF3D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60" t="3110" r="2553" b="9298"/>
          <a:stretch/>
        </p:blipFill>
        <p:spPr>
          <a:xfrm>
            <a:off x="950683" y="1059542"/>
            <a:ext cx="10138232" cy="56224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67099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E11C346E-EE77-4654-A4E6-C9CFC06804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8591" y="0"/>
            <a:ext cx="1049481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27468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57806624-1BC7-4AE5-B4C4-2F7AA35D68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8346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64401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5000" b="-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내용 개체 틀 6">
            <a:extLst>
              <a:ext uri="{FF2B5EF4-FFF2-40B4-BE49-F238E27FC236}">
                <a16:creationId xmlns:a16="http://schemas.microsoft.com/office/drawing/2014/main" id="{241BFBF9-4927-4150-AC55-4C998CFCF395}"/>
              </a:ext>
            </a:extLst>
          </p:cNvPr>
          <p:cNvSpPr txBox="1">
            <a:spLocks/>
          </p:cNvSpPr>
          <p:nvPr/>
        </p:nvSpPr>
        <p:spPr>
          <a:xfrm>
            <a:off x="979466" y="0"/>
            <a:ext cx="2771775" cy="6858000"/>
          </a:xfrm>
          <a:prstGeom prst="rect">
            <a:avLst/>
          </a:prstGeom>
          <a:solidFill>
            <a:schemeClr val="tx1">
              <a:alpha val="62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 altLang="ko-KR" dirty="0">
              <a:solidFill>
                <a:schemeClr val="bg1"/>
              </a:solidFill>
            </a:endParaRPr>
          </a:p>
          <a:p>
            <a:pPr marL="0" indent="0" algn="ctr">
              <a:buFont typeface="Arial" panose="020B0604020202020204" pitchFamily="34" charset="0"/>
              <a:buNone/>
            </a:pPr>
            <a:endParaRPr lang="en-US" altLang="ko-KR" sz="2200" dirty="0">
              <a:solidFill>
                <a:schemeClr val="bg1"/>
              </a:solidFill>
            </a:endParaRPr>
          </a:p>
          <a:p>
            <a:pPr marL="0" indent="0" algn="ctr">
              <a:buFont typeface="Arial" panose="020B0604020202020204" pitchFamily="34" charset="0"/>
              <a:buNone/>
            </a:pPr>
            <a:endParaRPr lang="en-US" altLang="ko-KR" sz="2200" dirty="0">
              <a:solidFill>
                <a:schemeClr val="bg1"/>
              </a:solidFill>
            </a:endParaRPr>
          </a:p>
          <a:p>
            <a:pPr marL="0" indent="0" algn="ctr">
              <a:buNone/>
            </a:pPr>
            <a:r>
              <a:rPr lang="ko-KR" altLang="en-US" sz="20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사용자</a:t>
            </a:r>
            <a:endParaRPr lang="en-US" altLang="ko-KR" sz="2400" b="1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 algn="ctr">
              <a:buFont typeface="Arial" panose="020B0604020202020204" pitchFamily="34" charset="0"/>
              <a:buNone/>
            </a:pPr>
            <a:endParaRPr lang="en-US" altLang="ko-KR" sz="24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altLang="ko-KR" sz="1800" dirty="0">
                <a:solidFill>
                  <a:schemeClr val="bg1"/>
                </a:solidFill>
              </a:rPr>
              <a:t>- </a:t>
            </a:r>
            <a:r>
              <a:rPr lang="ko-KR" altLang="en-US" sz="1800" dirty="0">
                <a:solidFill>
                  <a:schemeClr val="bg1"/>
                </a:solidFill>
              </a:rPr>
              <a:t>로그인</a:t>
            </a:r>
            <a:r>
              <a:rPr lang="en-US" altLang="ko-KR" sz="1800" dirty="0">
                <a:solidFill>
                  <a:schemeClr val="bg1"/>
                </a:solidFill>
              </a:rPr>
              <a:t>,</a:t>
            </a:r>
            <a:r>
              <a:rPr lang="ko-KR" altLang="en-US" sz="1800" dirty="0">
                <a:solidFill>
                  <a:schemeClr val="bg1"/>
                </a:solidFill>
              </a:rPr>
              <a:t>로그아웃</a:t>
            </a:r>
            <a:r>
              <a:rPr lang="en-US" altLang="ko-KR" sz="1800" dirty="0">
                <a:solidFill>
                  <a:schemeClr val="bg1"/>
                </a:solidFill>
              </a:rPr>
              <a:t/>
            </a:r>
            <a:br>
              <a:rPr lang="en-US" altLang="ko-KR" sz="1800" dirty="0">
                <a:solidFill>
                  <a:schemeClr val="bg1"/>
                </a:solidFill>
              </a:rPr>
            </a:br>
            <a:r>
              <a:rPr lang="en-US" altLang="ko-KR" sz="1800" dirty="0">
                <a:solidFill>
                  <a:schemeClr val="bg1"/>
                </a:solidFill>
              </a:rPr>
              <a:t/>
            </a:r>
            <a:br>
              <a:rPr lang="en-US" altLang="ko-KR" sz="1800" dirty="0">
                <a:solidFill>
                  <a:schemeClr val="bg1"/>
                </a:solidFill>
              </a:rPr>
            </a:br>
            <a:r>
              <a:rPr lang="en-US" altLang="ko-KR" sz="1800" dirty="0">
                <a:solidFill>
                  <a:schemeClr val="bg1"/>
                </a:solidFill>
              </a:rPr>
              <a:t>- </a:t>
            </a:r>
            <a:r>
              <a:rPr lang="ko-KR" altLang="en-US" sz="1800" dirty="0">
                <a:solidFill>
                  <a:schemeClr val="bg1"/>
                </a:solidFill>
              </a:rPr>
              <a:t>회원가입 및 수정</a:t>
            </a:r>
            <a:r>
              <a:rPr lang="en-US" altLang="ko-KR" sz="1800" dirty="0">
                <a:solidFill>
                  <a:schemeClr val="bg1"/>
                </a:solidFill>
              </a:rPr>
              <a:t/>
            </a:r>
            <a:br>
              <a:rPr lang="en-US" altLang="ko-KR" sz="1800" dirty="0">
                <a:solidFill>
                  <a:schemeClr val="bg1"/>
                </a:solidFill>
              </a:rPr>
            </a:br>
            <a:r>
              <a:rPr lang="en-US" altLang="ko-KR" sz="1800" dirty="0">
                <a:solidFill>
                  <a:schemeClr val="bg1"/>
                </a:solidFill>
              </a:rPr>
              <a:t/>
            </a:r>
            <a:br>
              <a:rPr lang="en-US" altLang="ko-KR" sz="1800" dirty="0">
                <a:solidFill>
                  <a:schemeClr val="bg1"/>
                </a:solidFill>
              </a:rPr>
            </a:br>
            <a:r>
              <a:rPr lang="en-US" altLang="ko-KR" sz="1800" dirty="0">
                <a:solidFill>
                  <a:schemeClr val="bg1"/>
                </a:solidFill>
              </a:rPr>
              <a:t>- </a:t>
            </a:r>
            <a:r>
              <a:rPr lang="ko-KR" altLang="en-US" sz="1800" dirty="0">
                <a:solidFill>
                  <a:schemeClr val="bg1"/>
                </a:solidFill>
              </a:rPr>
              <a:t>영화 예매</a:t>
            </a:r>
            <a:r>
              <a:rPr lang="en-US" altLang="ko-KR" sz="1800" dirty="0">
                <a:solidFill>
                  <a:schemeClr val="bg1"/>
                </a:solidFill>
              </a:rPr>
              <a:t>,</a:t>
            </a:r>
            <a:r>
              <a:rPr lang="ko-KR" altLang="en-US" sz="1800" dirty="0">
                <a:solidFill>
                  <a:schemeClr val="bg1"/>
                </a:solidFill>
              </a:rPr>
              <a:t>내역조회</a:t>
            </a:r>
            <a:r>
              <a:rPr lang="en-US" altLang="ko-KR" sz="1800" dirty="0">
                <a:solidFill>
                  <a:schemeClr val="bg1"/>
                </a:solidFill>
              </a:rPr>
              <a:t/>
            </a:r>
            <a:br>
              <a:rPr lang="en-US" altLang="ko-KR" sz="1800" dirty="0">
                <a:solidFill>
                  <a:schemeClr val="bg1"/>
                </a:solidFill>
              </a:rPr>
            </a:br>
            <a:r>
              <a:rPr lang="en-US" altLang="ko-KR" sz="1800" dirty="0">
                <a:solidFill>
                  <a:schemeClr val="bg1"/>
                </a:solidFill>
              </a:rPr>
              <a:t/>
            </a:r>
            <a:br>
              <a:rPr lang="en-US" altLang="ko-KR" sz="1800" dirty="0">
                <a:solidFill>
                  <a:schemeClr val="bg1"/>
                </a:solidFill>
              </a:rPr>
            </a:br>
            <a:r>
              <a:rPr lang="en-US" altLang="ko-KR" sz="1800" dirty="0">
                <a:solidFill>
                  <a:schemeClr val="bg1"/>
                </a:solidFill>
              </a:rPr>
              <a:t>- </a:t>
            </a:r>
            <a:r>
              <a:rPr lang="ko-KR" altLang="en-US" sz="1800" dirty="0">
                <a:solidFill>
                  <a:schemeClr val="bg1"/>
                </a:solidFill>
              </a:rPr>
              <a:t>마일리지</a:t>
            </a:r>
            <a:r>
              <a:rPr lang="en-US" altLang="ko-KR" sz="1800" dirty="0">
                <a:solidFill>
                  <a:schemeClr val="bg1"/>
                </a:solidFill>
              </a:rPr>
              <a:t> </a:t>
            </a:r>
            <a:r>
              <a:rPr lang="ko-KR" altLang="en-US" sz="1800" dirty="0">
                <a:solidFill>
                  <a:schemeClr val="bg1"/>
                </a:solidFill>
              </a:rPr>
              <a:t>조회</a:t>
            </a:r>
            <a:endParaRPr lang="en-US" altLang="ko-KR" sz="1800" dirty="0">
              <a:solidFill>
                <a:schemeClr val="bg1"/>
              </a:solidFill>
            </a:endParaRPr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>
                        <a14:foregroundMark x1="21560" y1="55556" x2="21560" y2="55556"/>
                        <a14:foregroundMark x1="72477" y1="57265" x2="72477" y2="57265"/>
                        <a14:backgroundMark x1="28440" y1="20513" x2="28440" y2="20513"/>
                        <a14:backgroundMark x1="72477" y1="22222" x2="72477" y2="22222"/>
                        <a14:backgroundMark x1="96789" y1="20513" x2="96789" y2="2051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4701" y="241896"/>
            <a:ext cx="1661304" cy="891617"/>
          </a:xfrm>
          <a:prstGeom prst="rect">
            <a:avLst/>
          </a:prstGeom>
        </p:spPr>
      </p:pic>
      <p:sp>
        <p:nvSpPr>
          <p:cNvPr id="11" name="내용 개체 틀 6">
            <a:extLst>
              <a:ext uri="{FF2B5EF4-FFF2-40B4-BE49-F238E27FC236}">
                <a16:creationId xmlns:a16="http://schemas.microsoft.com/office/drawing/2014/main" id="{3C56640E-5324-4C17-8B2A-45FCBE01FA95}"/>
              </a:ext>
            </a:extLst>
          </p:cNvPr>
          <p:cNvSpPr txBox="1">
            <a:spLocks/>
          </p:cNvSpPr>
          <p:nvPr/>
        </p:nvSpPr>
        <p:spPr>
          <a:xfrm>
            <a:off x="7876728" y="0"/>
            <a:ext cx="2771775" cy="6858000"/>
          </a:xfrm>
          <a:prstGeom prst="rect">
            <a:avLst/>
          </a:prstGeom>
          <a:solidFill>
            <a:schemeClr val="tx1">
              <a:alpha val="62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 altLang="ko-KR" dirty="0">
              <a:solidFill>
                <a:schemeClr val="bg1"/>
              </a:solidFill>
            </a:endParaRPr>
          </a:p>
          <a:p>
            <a:pPr marL="0" indent="0" algn="ctr">
              <a:buFont typeface="Arial" panose="020B0604020202020204" pitchFamily="34" charset="0"/>
              <a:buNone/>
            </a:pPr>
            <a:endParaRPr lang="en-US" altLang="ko-KR" sz="2200" dirty="0">
              <a:solidFill>
                <a:schemeClr val="bg1"/>
              </a:solidFill>
            </a:endParaRPr>
          </a:p>
          <a:p>
            <a:pPr marL="0" indent="0" algn="ctr">
              <a:buFont typeface="Arial" panose="020B0604020202020204" pitchFamily="34" charset="0"/>
              <a:buNone/>
            </a:pPr>
            <a:endParaRPr lang="en-US" altLang="ko-KR" sz="2200" dirty="0">
              <a:solidFill>
                <a:schemeClr val="bg1"/>
              </a:solidFill>
            </a:endParaRP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ko-KR" altLang="en-US" sz="2000" dirty="0">
                <a:solidFill>
                  <a:schemeClr val="bg1"/>
                </a:solidFill>
              </a:rPr>
              <a:t> </a:t>
            </a:r>
            <a:r>
              <a:rPr lang="ko-KR" altLang="en-US" sz="20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최고관리자</a:t>
            </a:r>
            <a:endParaRPr lang="en-US" altLang="ko-KR" sz="2000" b="1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 algn="ctr">
              <a:buFont typeface="Arial" panose="020B0604020202020204" pitchFamily="34" charset="0"/>
              <a:buNone/>
            </a:pPr>
            <a:endParaRPr lang="en-US" altLang="ko-KR" sz="2000" dirty="0">
              <a:solidFill>
                <a:schemeClr val="bg1"/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ko-KR" sz="1800" dirty="0">
                <a:solidFill>
                  <a:schemeClr val="bg1"/>
                </a:solidFill>
              </a:rPr>
              <a:t>- </a:t>
            </a:r>
            <a:r>
              <a:rPr lang="ko-KR" altLang="en-US" sz="1800" dirty="0">
                <a:solidFill>
                  <a:schemeClr val="bg1"/>
                </a:solidFill>
              </a:rPr>
              <a:t>전 지점 매출 통계</a:t>
            </a:r>
            <a:endParaRPr lang="en-US" altLang="ko-KR" sz="1800" dirty="0">
              <a:solidFill>
                <a:schemeClr val="bg1"/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ko-KR" sz="1800" dirty="0">
                <a:solidFill>
                  <a:schemeClr val="bg1"/>
                </a:solidFill>
              </a:rPr>
              <a:t>- </a:t>
            </a:r>
            <a:r>
              <a:rPr lang="ko-KR" altLang="en-US" sz="1800" dirty="0">
                <a:solidFill>
                  <a:schemeClr val="bg1"/>
                </a:solidFill>
              </a:rPr>
              <a:t>전체 영화 등록</a:t>
            </a:r>
            <a:endParaRPr lang="en-US" altLang="ko-KR" sz="1800" dirty="0">
              <a:solidFill>
                <a:schemeClr val="bg1"/>
              </a:solidFill>
            </a:endParaRPr>
          </a:p>
          <a:p>
            <a:pPr marL="0" indent="0" algn="ctr">
              <a:buFont typeface="Arial" panose="020B0604020202020204" pitchFamily="34" charset="0"/>
              <a:buNone/>
            </a:pPr>
            <a:endParaRPr lang="en-US" altLang="ko-KR" sz="2400" dirty="0">
              <a:solidFill>
                <a:schemeClr val="bg1"/>
              </a:solidFill>
            </a:endParaRP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7BDAB1D1-364E-4333-9360-EC5867D7BCF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09929" y="241896"/>
            <a:ext cx="1981372" cy="914479"/>
          </a:xfrm>
          <a:prstGeom prst="rect">
            <a:avLst/>
          </a:prstGeom>
        </p:spPr>
      </p:pic>
      <p:sp>
        <p:nvSpPr>
          <p:cNvPr id="17" name="내용 개체 틀 6">
            <a:extLst>
              <a:ext uri="{FF2B5EF4-FFF2-40B4-BE49-F238E27FC236}">
                <a16:creationId xmlns:a16="http://schemas.microsoft.com/office/drawing/2014/main" id="{6499E1B2-AD08-4BE1-8767-2EE94FBE2559}"/>
              </a:ext>
            </a:extLst>
          </p:cNvPr>
          <p:cNvSpPr txBox="1">
            <a:spLocks/>
          </p:cNvSpPr>
          <p:nvPr/>
        </p:nvSpPr>
        <p:spPr>
          <a:xfrm>
            <a:off x="4428097" y="0"/>
            <a:ext cx="2771775" cy="6857999"/>
          </a:xfrm>
          <a:prstGeom prst="rect">
            <a:avLst/>
          </a:prstGeom>
          <a:solidFill>
            <a:schemeClr val="tx1">
              <a:alpha val="62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 altLang="ko-KR" dirty="0">
              <a:solidFill>
                <a:schemeClr val="bg1"/>
              </a:solidFill>
            </a:endParaRPr>
          </a:p>
          <a:p>
            <a:pPr marL="0" indent="0" algn="ctr">
              <a:buFont typeface="Arial" panose="020B0604020202020204" pitchFamily="34" charset="0"/>
              <a:buNone/>
            </a:pPr>
            <a:endParaRPr lang="en-US" altLang="ko-KR" sz="2200" dirty="0">
              <a:solidFill>
                <a:schemeClr val="bg1"/>
              </a:solidFill>
            </a:endParaRPr>
          </a:p>
          <a:p>
            <a:pPr marL="0" indent="0" algn="ctr">
              <a:buFont typeface="Arial" panose="020B0604020202020204" pitchFamily="34" charset="0"/>
              <a:buNone/>
            </a:pPr>
            <a:endParaRPr lang="en-US" altLang="ko-KR" sz="2200" dirty="0">
              <a:solidFill>
                <a:schemeClr val="bg1"/>
              </a:solidFill>
            </a:endParaRPr>
          </a:p>
          <a:p>
            <a:pPr marL="0" indent="0" algn="ctr">
              <a:buNone/>
            </a:pPr>
            <a:r>
              <a:rPr lang="ko-KR" altLang="en-US" sz="2000" dirty="0">
                <a:solidFill>
                  <a:schemeClr val="bg1"/>
                </a:solidFill>
              </a:rPr>
              <a:t> </a:t>
            </a:r>
            <a:r>
              <a:rPr lang="ko-KR" altLang="en-US" sz="20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지점관리자</a:t>
            </a:r>
            <a:endParaRPr lang="en-US" altLang="ko-KR" sz="2000" b="1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 algn="ctr">
              <a:buNone/>
            </a:pPr>
            <a:endParaRPr lang="en-US" altLang="ko-KR" sz="20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altLang="ko-KR" sz="1800" dirty="0">
                <a:solidFill>
                  <a:schemeClr val="bg1"/>
                </a:solidFill>
              </a:rPr>
              <a:t>- </a:t>
            </a:r>
            <a:r>
              <a:rPr lang="ko-KR" altLang="en-US" sz="1800" dirty="0">
                <a:solidFill>
                  <a:schemeClr val="bg1"/>
                </a:solidFill>
              </a:rPr>
              <a:t>로그인</a:t>
            </a:r>
            <a:r>
              <a:rPr lang="en-US" altLang="ko-KR" sz="1800" dirty="0">
                <a:solidFill>
                  <a:schemeClr val="bg1"/>
                </a:solidFill>
              </a:rPr>
              <a:t>,</a:t>
            </a:r>
            <a:r>
              <a:rPr lang="ko-KR" altLang="en-US" sz="1800" dirty="0">
                <a:solidFill>
                  <a:schemeClr val="bg1"/>
                </a:solidFill>
              </a:rPr>
              <a:t>회원가입</a:t>
            </a:r>
            <a:r>
              <a:rPr lang="en-US" altLang="ko-KR" sz="1800" dirty="0">
                <a:solidFill>
                  <a:schemeClr val="bg1"/>
                </a:solidFill>
              </a:rPr>
              <a:t>,</a:t>
            </a:r>
            <a:r>
              <a:rPr lang="ko-KR" altLang="en-US" sz="1800" dirty="0">
                <a:solidFill>
                  <a:schemeClr val="bg1"/>
                </a:solidFill>
              </a:rPr>
              <a:t>수정</a:t>
            </a:r>
          </a:p>
          <a:p>
            <a:pPr marL="0" indent="0">
              <a:buNone/>
            </a:pPr>
            <a:r>
              <a:rPr lang="en-US" altLang="ko-KR" sz="1800" dirty="0">
                <a:solidFill>
                  <a:schemeClr val="bg1"/>
                </a:solidFill>
              </a:rPr>
              <a:t>- </a:t>
            </a:r>
            <a:r>
              <a:rPr lang="ko-KR" altLang="en-US" sz="1800" dirty="0">
                <a:solidFill>
                  <a:schemeClr val="bg1"/>
                </a:solidFill>
              </a:rPr>
              <a:t>영화등록</a:t>
            </a:r>
          </a:p>
          <a:p>
            <a:pPr marL="0" indent="0">
              <a:buNone/>
            </a:pPr>
            <a:r>
              <a:rPr lang="en-US" altLang="ko-KR" sz="1800" dirty="0">
                <a:solidFill>
                  <a:schemeClr val="bg1"/>
                </a:solidFill>
              </a:rPr>
              <a:t>- </a:t>
            </a:r>
            <a:r>
              <a:rPr lang="ko-KR" altLang="en-US" sz="1800" dirty="0">
                <a:solidFill>
                  <a:schemeClr val="bg1"/>
                </a:solidFill>
              </a:rPr>
              <a:t>예매관리</a:t>
            </a:r>
            <a:r>
              <a:rPr lang="en-US" altLang="ko-KR" sz="1800" dirty="0">
                <a:solidFill>
                  <a:schemeClr val="bg1"/>
                </a:solidFill>
              </a:rPr>
              <a:t>,</a:t>
            </a:r>
            <a:r>
              <a:rPr lang="ko-KR" altLang="en-US" sz="1800" dirty="0">
                <a:solidFill>
                  <a:schemeClr val="bg1"/>
                </a:solidFill>
              </a:rPr>
              <a:t>근태관리</a:t>
            </a:r>
          </a:p>
          <a:p>
            <a:pPr marL="0" indent="0">
              <a:buNone/>
            </a:pPr>
            <a:r>
              <a:rPr lang="en-US" altLang="ko-KR" sz="1800" dirty="0">
                <a:solidFill>
                  <a:schemeClr val="bg1"/>
                </a:solidFill>
              </a:rPr>
              <a:t>- </a:t>
            </a:r>
            <a:r>
              <a:rPr lang="ko-KR" altLang="en-US" sz="1800" dirty="0">
                <a:solidFill>
                  <a:schemeClr val="bg1"/>
                </a:solidFill>
              </a:rPr>
              <a:t>매출 통계</a:t>
            </a:r>
            <a:endParaRPr lang="en-US" altLang="ko-KR" sz="1800" dirty="0">
              <a:solidFill>
                <a:schemeClr val="bg1"/>
              </a:solidFill>
            </a:endParaRPr>
          </a:p>
        </p:txBody>
      </p:sp>
      <p:pic>
        <p:nvPicPr>
          <p:cNvPr id="9" name="그림 8"/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2955" y="219034"/>
            <a:ext cx="1981372" cy="914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97432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1" grpId="0" animBg="1"/>
      <p:bldP spid="17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6000" r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258A1C4C-4886-49D5-877D-81A81DED1D65}"/>
              </a:ext>
            </a:extLst>
          </p:cNvPr>
          <p:cNvSpPr/>
          <p:nvPr/>
        </p:nvSpPr>
        <p:spPr>
          <a:xfrm>
            <a:off x="0" y="0"/>
            <a:ext cx="12192000" cy="1040524"/>
          </a:xfrm>
          <a:prstGeom prst="rect">
            <a:avLst/>
          </a:prstGeom>
          <a:solidFill>
            <a:schemeClr val="tx1"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30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 UI for USER</a:t>
            </a:r>
            <a:endParaRPr lang="ko-KR" altLang="en-US" sz="3000" b="1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097B25B-4E29-4C6C-B0BE-8B7163552E1B}"/>
              </a:ext>
            </a:extLst>
          </p:cNvPr>
          <p:cNvSpPr/>
          <p:nvPr/>
        </p:nvSpPr>
        <p:spPr>
          <a:xfrm>
            <a:off x="0" y="1040524"/>
            <a:ext cx="12192000" cy="5817476"/>
          </a:xfrm>
          <a:prstGeom prst="rect">
            <a:avLst/>
          </a:prstGeom>
          <a:solidFill>
            <a:schemeClr val="tx1"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b="1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ea"/>
            </a:endParaRPr>
          </a:p>
          <a:p>
            <a:pPr algn="ctr"/>
            <a:endParaRPr lang="en-US" altLang="ko-KR" b="1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ea"/>
            </a:endParaRPr>
          </a:p>
          <a:p>
            <a:pPr algn="ctr"/>
            <a:endParaRPr lang="en-US" altLang="ko-KR" b="1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ea"/>
            </a:endParaRPr>
          </a:p>
          <a:p>
            <a:pPr algn="ctr"/>
            <a:endParaRPr lang="en-US" altLang="ko-KR" b="1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ea"/>
            </a:endParaRPr>
          </a:p>
          <a:p>
            <a:pPr algn="ctr"/>
            <a:endParaRPr lang="en-US" altLang="ko-KR" b="1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ea"/>
            </a:endParaRPr>
          </a:p>
          <a:p>
            <a:pPr algn="ctr"/>
            <a:endParaRPr lang="en-US" altLang="ko-KR" b="1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ea"/>
            </a:endParaRPr>
          </a:p>
          <a:p>
            <a:pPr algn="ctr"/>
            <a:endParaRPr lang="en-US" altLang="ko-KR" b="1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ea"/>
            </a:endParaRPr>
          </a:p>
          <a:p>
            <a:pPr algn="ctr"/>
            <a:endParaRPr lang="en-US" altLang="ko-KR" b="1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ea"/>
            </a:endParaRPr>
          </a:p>
          <a:p>
            <a:pPr algn="ctr"/>
            <a:endParaRPr lang="en-US" altLang="ko-KR" b="1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ea"/>
            </a:endParaRPr>
          </a:p>
          <a:p>
            <a:pPr algn="ctr"/>
            <a:endParaRPr lang="en-US" altLang="ko-KR" b="1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ea"/>
            </a:endParaRPr>
          </a:p>
          <a:p>
            <a:endParaRPr lang="en-US" altLang="ko-KR" b="1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ea"/>
            </a:endParaRPr>
          </a:p>
          <a:p>
            <a:endParaRPr lang="en-US" altLang="ko-KR" b="1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ea"/>
            </a:endParaRPr>
          </a:p>
          <a:p>
            <a:endParaRPr lang="en-US" altLang="ko-KR" b="1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ea"/>
            </a:endParaRPr>
          </a:p>
          <a:p>
            <a:endParaRPr lang="en-US" altLang="ko-KR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ea"/>
            </a:endParaRPr>
          </a:p>
          <a:p>
            <a:r>
              <a:rPr lang="ko-KR" altLang="en-US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</a:rPr>
              <a:t> </a:t>
            </a:r>
            <a:endParaRPr lang="en-US" altLang="ko-KR" b="1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ea"/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2644" y="1389183"/>
            <a:ext cx="2550810" cy="3851980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79408" y="1389183"/>
            <a:ext cx="2581628" cy="3898518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68455" y="725424"/>
            <a:ext cx="2474121" cy="3736172"/>
          </a:xfrm>
          <a:prstGeom prst="rect">
            <a:avLst/>
          </a:prstGeom>
        </p:spPr>
      </p:pic>
      <p:pic>
        <p:nvPicPr>
          <p:cNvPr id="11" name="그림 10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03125" y="2757299"/>
            <a:ext cx="2560140" cy="38660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58451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6000" r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D097B25B-4E29-4C6C-B0BE-8B7163552E1B}"/>
              </a:ext>
            </a:extLst>
          </p:cNvPr>
          <p:cNvSpPr/>
          <p:nvPr/>
        </p:nvSpPr>
        <p:spPr>
          <a:xfrm>
            <a:off x="25600" y="1020304"/>
            <a:ext cx="12138755" cy="5837695"/>
          </a:xfrm>
          <a:prstGeom prst="rect">
            <a:avLst/>
          </a:prstGeom>
          <a:solidFill>
            <a:schemeClr val="tx1"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FF11204B-8E80-4F5F-937D-99BA951B8E6F}"/>
              </a:ext>
            </a:extLst>
          </p:cNvPr>
          <p:cNvSpPr/>
          <p:nvPr/>
        </p:nvSpPr>
        <p:spPr>
          <a:xfrm>
            <a:off x="-1" y="0"/>
            <a:ext cx="12164355" cy="1020305"/>
          </a:xfrm>
          <a:prstGeom prst="rect">
            <a:avLst/>
          </a:prstGeom>
          <a:solidFill>
            <a:schemeClr val="tx1"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30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 UI for USER</a:t>
            </a:r>
            <a:endParaRPr lang="ko-KR" altLang="en-US" sz="3000" b="1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04" y="922575"/>
            <a:ext cx="2903709" cy="4378717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9518" y="922575"/>
            <a:ext cx="2899619" cy="4378717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41673" y="950648"/>
            <a:ext cx="2881029" cy="4350644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5238" y="922575"/>
            <a:ext cx="2899619" cy="4378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25929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6000" r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D097B25B-4E29-4C6C-B0BE-8B7163552E1B}"/>
              </a:ext>
            </a:extLst>
          </p:cNvPr>
          <p:cNvSpPr/>
          <p:nvPr/>
        </p:nvSpPr>
        <p:spPr>
          <a:xfrm>
            <a:off x="0" y="921458"/>
            <a:ext cx="12192000" cy="5936542"/>
          </a:xfrm>
          <a:prstGeom prst="rect">
            <a:avLst/>
          </a:prstGeom>
          <a:solidFill>
            <a:schemeClr val="tx1"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A8A8E041-656F-441B-9D74-13A00E9299D4}"/>
              </a:ext>
            </a:extLst>
          </p:cNvPr>
          <p:cNvSpPr/>
          <p:nvPr/>
        </p:nvSpPr>
        <p:spPr>
          <a:xfrm>
            <a:off x="0" y="-17622"/>
            <a:ext cx="12192000" cy="939080"/>
          </a:xfrm>
          <a:prstGeom prst="rect">
            <a:avLst/>
          </a:prstGeom>
          <a:solidFill>
            <a:schemeClr val="tx1"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UI for MANAGER </a:t>
            </a:r>
            <a:endParaRPr kumimoji="0" lang="ko-KR" altLang="en-US" sz="3000" b="1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49E48A88-9D70-47CF-84B9-D09AF18FF4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045" y="750293"/>
            <a:ext cx="6346323" cy="3898456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8E41BBE1-7DE8-4613-BA77-C8A5B064DF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8873" y="2060667"/>
            <a:ext cx="7612081" cy="46759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34421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6000" r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258A1C4C-4886-49D5-877D-81A81DED1D65}"/>
              </a:ext>
            </a:extLst>
          </p:cNvPr>
          <p:cNvSpPr/>
          <p:nvPr/>
        </p:nvSpPr>
        <p:spPr>
          <a:xfrm>
            <a:off x="0" y="0"/>
            <a:ext cx="12192000" cy="921458"/>
          </a:xfrm>
          <a:prstGeom prst="rect">
            <a:avLst/>
          </a:prstGeom>
          <a:solidFill>
            <a:schemeClr val="tx1"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UI for MANAGER </a:t>
            </a:r>
            <a:endParaRPr kumimoji="0" lang="ko-KR" altLang="en-US" sz="3000" b="1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097B25B-4E29-4C6C-B0BE-8B7163552E1B}"/>
              </a:ext>
            </a:extLst>
          </p:cNvPr>
          <p:cNvSpPr/>
          <p:nvPr/>
        </p:nvSpPr>
        <p:spPr>
          <a:xfrm>
            <a:off x="0" y="921458"/>
            <a:ext cx="12192000" cy="5936542"/>
          </a:xfrm>
          <a:prstGeom prst="rect">
            <a:avLst/>
          </a:prstGeom>
          <a:solidFill>
            <a:schemeClr val="tx1"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dirty="0">
              <a:solidFill>
                <a:prstClr val="white"/>
              </a:solidFill>
              <a:latin typeface="맑은 고딕" panose="020F0502020204030204"/>
              <a:ea typeface="맑은 고딕" panose="020B0503020000020004" pitchFamily="50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dirty="0">
              <a:solidFill>
                <a:prstClr val="white"/>
              </a:solidFill>
              <a:latin typeface="맑은 고딕" panose="020F0502020204030204"/>
              <a:ea typeface="맑은 고딕" panose="020B0503020000020004" pitchFamily="50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dirty="0">
              <a:solidFill>
                <a:prstClr val="white"/>
              </a:solidFill>
              <a:latin typeface="맑은 고딕" panose="020F0502020204030204"/>
              <a:ea typeface="맑은 고딕" panose="020B0503020000020004" pitchFamily="50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dirty="0">
              <a:solidFill>
                <a:prstClr val="white"/>
              </a:solidFill>
              <a:latin typeface="맑은 고딕" panose="020F0502020204030204"/>
              <a:ea typeface="맑은 고딕" panose="020B0503020000020004" pitchFamily="50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dirty="0">
              <a:solidFill>
                <a:prstClr val="white"/>
              </a:solidFill>
              <a:latin typeface="맑은 고딕" panose="020F0502020204030204"/>
              <a:ea typeface="맑은 고딕" panose="020B0503020000020004" pitchFamily="50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dirty="0">
              <a:solidFill>
                <a:prstClr val="white"/>
              </a:solidFill>
              <a:latin typeface="맑은 고딕" panose="020F0502020204030204"/>
              <a:ea typeface="맑은 고딕" panose="020B0503020000020004" pitchFamily="50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dirty="0">
              <a:solidFill>
                <a:prstClr val="white"/>
              </a:solidFill>
              <a:latin typeface="맑은 고딕" panose="020F0502020204030204"/>
              <a:ea typeface="맑은 고딕" panose="020B0503020000020004" pitchFamily="50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0CCB8360-C61C-4BB9-8C17-388E9488A2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3060" y="814579"/>
            <a:ext cx="9405880" cy="5776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4390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6000" r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258A1C4C-4886-49D5-877D-81A81DED1D65}"/>
              </a:ext>
            </a:extLst>
          </p:cNvPr>
          <p:cNvSpPr/>
          <p:nvPr/>
        </p:nvSpPr>
        <p:spPr>
          <a:xfrm>
            <a:off x="-9236" y="-1"/>
            <a:ext cx="12192000" cy="921459"/>
          </a:xfrm>
          <a:prstGeom prst="rect">
            <a:avLst/>
          </a:prstGeom>
          <a:solidFill>
            <a:schemeClr val="tx1"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UI for MANAGER </a:t>
            </a:r>
            <a:endParaRPr kumimoji="0" lang="ko-KR" altLang="en-US" sz="3000" b="1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097B25B-4E29-4C6C-B0BE-8B7163552E1B}"/>
              </a:ext>
            </a:extLst>
          </p:cNvPr>
          <p:cNvSpPr/>
          <p:nvPr/>
        </p:nvSpPr>
        <p:spPr>
          <a:xfrm>
            <a:off x="9236" y="921458"/>
            <a:ext cx="12192000" cy="5936542"/>
          </a:xfrm>
          <a:prstGeom prst="rect">
            <a:avLst/>
          </a:prstGeom>
          <a:solidFill>
            <a:schemeClr val="tx1"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dirty="0">
              <a:solidFill>
                <a:prstClr val="white"/>
              </a:solidFill>
              <a:latin typeface="맑은 고딕" panose="020F0502020204030204"/>
              <a:ea typeface="맑은 고딕" panose="020B0503020000020004" pitchFamily="50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dirty="0">
              <a:solidFill>
                <a:prstClr val="white"/>
              </a:solidFill>
              <a:latin typeface="맑은 고딕" panose="020F0502020204030204"/>
              <a:ea typeface="맑은 고딕" panose="020B0503020000020004" pitchFamily="50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dirty="0">
              <a:solidFill>
                <a:prstClr val="white"/>
              </a:solidFill>
              <a:latin typeface="맑은 고딕" panose="020F0502020204030204"/>
              <a:ea typeface="맑은 고딕" panose="020B0503020000020004" pitchFamily="50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dirty="0">
              <a:solidFill>
                <a:prstClr val="white"/>
              </a:solidFill>
              <a:latin typeface="맑은 고딕" panose="020F0502020204030204"/>
              <a:ea typeface="맑은 고딕" panose="020B0503020000020004" pitchFamily="50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dirty="0">
              <a:solidFill>
                <a:prstClr val="white"/>
              </a:solidFill>
              <a:latin typeface="맑은 고딕" panose="020F0502020204030204"/>
              <a:ea typeface="맑은 고딕" panose="020B0503020000020004" pitchFamily="50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dirty="0">
              <a:solidFill>
                <a:prstClr val="white"/>
              </a:solidFill>
              <a:latin typeface="맑은 고딕" panose="020F0502020204030204"/>
              <a:ea typeface="맑은 고딕" panose="020B0503020000020004" pitchFamily="50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dirty="0">
              <a:solidFill>
                <a:prstClr val="white"/>
              </a:solidFill>
              <a:latin typeface="맑은 고딕" panose="020F0502020204030204"/>
              <a:ea typeface="맑은 고딕" panose="020B0503020000020004" pitchFamily="50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72989114-E577-4909-825C-A316F0AC16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708" y="765469"/>
            <a:ext cx="7433718" cy="4554676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4F3054A1-B675-4891-8EB2-1788A1E301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0436" y="2386940"/>
            <a:ext cx="7076856" cy="4336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04512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6000" r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D097B25B-4E29-4C6C-B0BE-8B7163552E1B}"/>
              </a:ext>
            </a:extLst>
          </p:cNvPr>
          <p:cNvSpPr/>
          <p:nvPr/>
        </p:nvSpPr>
        <p:spPr>
          <a:xfrm>
            <a:off x="-9236" y="921458"/>
            <a:ext cx="12192000" cy="5973212"/>
          </a:xfrm>
          <a:prstGeom prst="rect">
            <a:avLst/>
          </a:prstGeom>
          <a:solidFill>
            <a:schemeClr val="tx1"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dirty="0">
              <a:solidFill>
                <a:prstClr val="white"/>
              </a:solidFill>
              <a:latin typeface="맑은 고딕" panose="020F0502020204030204"/>
              <a:ea typeface="맑은 고딕" panose="020B0503020000020004" pitchFamily="50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dirty="0">
              <a:solidFill>
                <a:prstClr val="white"/>
              </a:solidFill>
              <a:latin typeface="맑은 고딕" panose="020F0502020204030204"/>
              <a:ea typeface="맑은 고딕" panose="020B0503020000020004" pitchFamily="50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dirty="0">
              <a:solidFill>
                <a:prstClr val="white"/>
              </a:solidFill>
              <a:latin typeface="맑은 고딕" panose="020F0502020204030204"/>
              <a:ea typeface="맑은 고딕" panose="020B0503020000020004" pitchFamily="50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dirty="0">
              <a:solidFill>
                <a:prstClr val="white"/>
              </a:solidFill>
              <a:latin typeface="맑은 고딕" panose="020F0502020204030204"/>
              <a:ea typeface="맑은 고딕" panose="020B0503020000020004" pitchFamily="50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dirty="0">
              <a:solidFill>
                <a:prstClr val="white"/>
              </a:solidFill>
              <a:latin typeface="맑은 고딕" panose="020F0502020204030204"/>
              <a:ea typeface="맑은 고딕" panose="020B0503020000020004" pitchFamily="50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dirty="0">
              <a:solidFill>
                <a:prstClr val="white"/>
              </a:solidFill>
              <a:latin typeface="맑은 고딕" panose="020F0502020204030204"/>
              <a:ea typeface="맑은 고딕" panose="020B0503020000020004" pitchFamily="50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dirty="0">
              <a:solidFill>
                <a:prstClr val="white"/>
              </a:solidFill>
              <a:latin typeface="맑은 고딕" panose="020F0502020204030204"/>
              <a:ea typeface="맑은 고딕" panose="020B0503020000020004" pitchFamily="50" charset="-127"/>
            </a:endParaRPr>
          </a:p>
          <a:p>
            <a:endParaRPr lang="en-US" altLang="ko-KR" b="1" dirty="0">
              <a:latin typeface="맑은 고딕" pitchFamily="50" charset="-127"/>
            </a:endParaRPr>
          </a:p>
          <a:p>
            <a:pPr marL="285750" indent="-285750">
              <a:buFontTx/>
              <a:buChar char="-"/>
            </a:pPr>
            <a:endParaRPr lang="en-US" altLang="ko-KR" b="1" dirty="0">
              <a:latin typeface="맑은 고딕" pitchFamily="50" charset="-127"/>
            </a:endParaRPr>
          </a:p>
          <a:p>
            <a:pPr marL="0" marR="0" lvl="0" indent="0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F364674-1EFB-4ECD-8E5B-D83E4C2C6AEF}"/>
              </a:ext>
            </a:extLst>
          </p:cNvPr>
          <p:cNvSpPr/>
          <p:nvPr/>
        </p:nvSpPr>
        <p:spPr>
          <a:xfrm>
            <a:off x="-9236" y="-1"/>
            <a:ext cx="12192000" cy="921459"/>
          </a:xfrm>
          <a:prstGeom prst="rect">
            <a:avLst/>
          </a:prstGeom>
          <a:solidFill>
            <a:schemeClr val="tx1"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lang="en-US" altLang="ko-KR" sz="30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UI</a:t>
            </a:r>
            <a:r>
              <a:rPr lang="ko-KR" altLang="en-US" sz="30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for MANAGER </a:t>
            </a:r>
            <a:endParaRPr kumimoji="0" lang="ko-KR" altLang="en-US" sz="3000" b="1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6B7A5768-A415-41AE-B19C-F73968E86A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6137" y="797233"/>
            <a:ext cx="9659726" cy="5932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56578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6000" r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663D9F4F-B464-4DF6-B0B5-7B280F199FEC}"/>
              </a:ext>
            </a:extLst>
          </p:cNvPr>
          <p:cNvSpPr/>
          <p:nvPr/>
        </p:nvSpPr>
        <p:spPr>
          <a:xfrm>
            <a:off x="-1" y="0"/>
            <a:ext cx="12192001" cy="6858000"/>
          </a:xfrm>
          <a:prstGeom prst="rect">
            <a:avLst/>
          </a:prstGeom>
          <a:solidFill>
            <a:schemeClr val="tx1"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Q &amp; A</a:t>
            </a:r>
            <a:endParaRPr lang="ko-KR" altLang="en-US" sz="48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43DD7EA-1186-42BB-9E86-C4084DAA8415}"/>
              </a:ext>
            </a:extLst>
          </p:cNvPr>
          <p:cNvSpPr/>
          <p:nvPr/>
        </p:nvSpPr>
        <p:spPr>
          <a:xfrm>
            <a:off x="4593770" y="2378033"/>
            <a:ext cx="3004457" cy="2101933"/>
          </a:xfrm>
          <a:prstGeom prst="rect">
            <a:avLst/>
          </a:prstGeom>
          <a:noFill/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350397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6000" r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663D9F4F-B464-4DF6-B0B5-7B280F199FEC}"/>
              </a:ext>
            </a:extLst>
          </p:cNvPr>
          <p:cNvSpPr/>
          <p:nvPr/>
        </p:nvSpPr>
        <p:spPr>
          <a:xfrm>
            <a:off x="-1" y="0"/>
            <a:ext cx="12192001" cy="6858000"/>
          </a:xfrm>
          <a:prstGeom prst="rect">
            <a:avLst/>
          </a:prstGeom>
          <a:solidFill>
            <a:schemeClr val="tx1"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4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THANK YOU</a:t>
            </a:r>
            <a:endParaRPr kumimoji="0" lang="ko-KR" altLang="en-US" sz="4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43DD7EA-1186-42BB-9E86-C4084DAA8415}"/>
              </a:ext>
            </a:extLst>
          </p:cNvPr>
          <p:cNvSpPr/>
          <p:nvPr/>
        </p:nvSpPr>
        <p:spPr>
          <a:xfrm>
            <a:off x="3051958" y="2378033"/>
            <a:ext cx="5890161" cy="2101933"/>
          </a:xfrm>
          <a:prstGeom prst="rect">
            <a:avLst/>
          </a:prstGeom>
          <a:noFill/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903444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1304</TotalTime>
  <Words>179</Words>
  <Application>Microsoft Office PowerPoint</Application>
  <PresentationFormat>와이드스크린</PresentationFormat>
  <Paragraphs>128</Paragraphs>
  <Slides>16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16</vt:i4>
      </vt:variant>
    </vt:vector>
  </HeadingPairs>
  <TitlesOfParts>
    <vt:vector size="21" baseType="lpstr">
      <vt:lpstr>나눔고딕</vt:lpstr>
      <vt:lpstr>다음_Regular</vt:lpstr>
      <vt:lpstr>맑은 고딕</vt:lpstr>
      <vt:lpstr>Arial</vt:lpstr>
      <vt:lpstr>Office 테마</vt:lpstr>
      <vt:lpstr> 자동차극장  예매시스템 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JAVA Swing을 활용한 자동차 극장 예매 시스템 </dc:title>
  <dc:creator>Windows 사용자</dc:creator>
  <cp:lastModifiedBy>Windows 사용자</cp:lastModifiedBy>
  <cp:revision>72</cp:revision>
  <dcterms:created xsi:type="dcterms:W3CDTF">2018-05-15T04:25:53Z</dcterms:created>
  <dcterms:modified xsi:type="dcterms:W3CDTF">2018-05-17T09:28:17Z</dcterms:modified>
</cp:coreProperties>
</file>